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Bricolage Grotesque Bold" charset="1" panose="020B0605040402000204"/>
      <p:regular r:id="rId18"/>
    </p:embeddedFont>
    <p:embeddedFont>
      <p:font typeface="Canva Sans 1" charset="1" panose="020B0503030501040103"/>
      <p:regular r:id="rId19"/>
    </p:embeddedFont>
    <p:embeddedFont>
      <p:font typeface="Bricolage Grotesque" charset="1" panose="020B0605040402000204"/>
      <p:regular r:id="rId20"/>
    </p:embeddedFont>
    <p:embeddedFont>
      <p:font typeface="Canva Sans 2" charset="1" panose="020B0503030501040103"/>
      <p:regular r:id="rId21"/>
    </p:embeddedFont>
    <p:embeddedFont>
      <p:font typeface="Canva Sans 1 Bold" charset="1" panose="020B0803030501040103"/>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DE59">
                <a:alpha val="100000"/>
              </a:srgbClr>
            </a:gs>
            <a:gs pos="100000">
              <a:srgbClr val="FF914D">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0" y="-976651"/>
            <a:ext cx="18288000" cy="8947593"/>
            <a:chOff x="0" y="0"/>
            <a:chExt cx="4816593" cy="2356568"/>
          </a:xfrm>
        </p:grpSpPr>
        <p:sp>
          <p:nvSpPr>
            <p:cNvPr name="Freeform 3" id="3"/>
            <p:cNvSpPr/>
            <p:nvPr/>
          </p:nvSpPr>
          <p:spPr>
            <a:xfrm flipH="false" flipV="false" rot="0">
              <a:off x="0" y="0"/>
              <a:ext cx="4816592" cy="2356568"/>
            </a:xfrm>
            <a:custGeom>
              <a:avLst/>
              <a:gdLst/>
              <a:ahLst/>
              <a:cxnLst/>
              <a:rect r="r" b="b" t="t" l="l"/>
              <a:pathLst>
                <a:path h="2356568" w="4816592">
                  <a:moveTo>
                    <a:pt x="36830" y="0"/>
                  </a:moveTo>
                  <a:lnTo>
                    <a:pt x="4779763" y="0"/>
                  </a:lnTo>
                  <a:cubicBezTo>
                    <a:pt x="4789531" y="0"/>
                    <a:pt x="4798898" y="3880"/>
                    <a:pt x="4805805" y="10787"/>
                  </a:cubicBezTo>
                  <a:cubicBezTo>
                    <a:pt x="4812712" y="17694"/>
                    <a:pt x="4816592" y="27062"/>
                    <a:pt x="4816592" y="36830"/>
                  </a:cubicBezTo>
                  <a:lnTo>
                    <a:pt x="4816592" y="2319738"/>
                  </a:lnTo>
                  <a:cubicBezTo>
                    <a:pt x="4816592" y="2340078"/>
                    <a:pt x="4800103" y="2356568"/>
                    <a:pt x="4779763" y="2356568"/>
                  </a:cubicBezTo>
                  <a:lnTo>
                    <a:pt x="36830" y="2356568"/>
                  </a:lnTo>
                  <a:cubicBezTo>
                    <a:pt x="27062" y="2356568"/>
                    <a:pt x="17694" y="2352687"/>
                    <a:pt x="10787" y="2345780"/>
                  </a:cubicBezTo>
                  <a:cubicBezTo>
                    <a:pt x="3880" y="2338874"/>
                    <a:pt x="0" y="2329506"/>
                    <a:pt x="0" y="2319738"/>
                  </a:cubicBezTo>
                  <a:lnTo>
                    <a:pt x="0" y="36830"/>
                  </a:lnTo>
                  <a:cubicBezTo>
                    <a:pt x="0" y="16489"/>
                    <a:pt x="16489" y="0"/>
                    <a:pt x="36830" y="0"/>
                  </a:cubicBezTo>
                  <a:close/>
                </a:path>
              </a:pathLst>
            </a:custGeom>
            <a:gradFill rotWithShape="true">
              <a:gsLst>
                <a:gs pos="0">
                  <a:srgbClr val="FFDE59">
                    <a:alpha val="100000"/>
                  </a:srgbClr>
                </a:gs>
                <a:gs pos="100000">
                  <a:srgbClr val="FF914D">
                    <a:alpha val="100000"/>
                  </a:srgbClr>
                </a:gs>
              </a:gsLst>
              <a:lin ang="0"/>
            </a:gradFill>
          </p:spPr>
        </p:sp>
        <p:sp>
          <p:nvSpPr>
            <p:cNvPr name="TextBox 4" id="4"/>
            <p:cNvSpPr txBox="true"/>
            <p:nvPr/>
          </p:nvSpPr>
          <p:spPr>
            <a:xfrm>
              <a:off x="0" y="-38100"/>
              <a:ext cx="4816593" cy="239466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649479" y="1163002"/>
            <a:ext cx="6787377" cy="6328487"/>
            <a:chOff x="0" y="0"/>
            <a:chExt cx="1368856" cy="1276308"/>
          </a:xfrm>
        </p:grpSpPr>
        <p:sp>
          <p:nvSpPr>
            <p:cNvPr name="Freeform 6" id="6"/>
            <p:cNvSpPr/>
            <p:nvPr/>
          </p:nvSpPr>
          <p:spPr>
            <a:xfrm flipH="false" flipV="false" rot="0">
              <a:off x="0" y="0"/>
              <a:ext cx="1368856" cy="1276309"/>
            </a:xfrm>
            <a:custGeom>
              <a:avLst/>
              <a:gdLst/>
              <a:ahLst/>
              <a:cxnLst/>
              <a:rect r="r" b="b" t="t" l="l"/>
              <a:pathLst>
                <a:path h="1276309" w="1368856">
                  <a:moveTo>
                    <a:pt x="60454" y="0"/>
                  </a:moveTo>
                  <a:lnTo>
                    <a:pt x="1308402" y="0"/>
                  </a:lnTo>
                  <a:cubicBezTo>
                    <a:pt x="1341790" y="0"/>
                    <a:pt x="1368856" y="27066"/>
                    <a:pt x="1368856" y="60454"/>
                  </a:cubicBezTo>
                  <a:lnTo>
                    <a:pt x="1368856" y="1215855"/>
                  </a:lnTo>
                  <a:cubicBezTo>
                    <a:pt x="1368856" y="1249243"/>
                    <a:pt x="1341790" y="1276309"/>
                    <a:pt x="1308402" y="1276309"/>
                  </a:cubicBezTo>
                  <a:lnTo>
                    <a:pt x="60454" y="1276309"/>
                  </a:lnTo>
                  <a:cubicBezTo>
                    <a:pt x="27066" y="1276309"/>
                    <a:pt x="0" y="1249243"/>
                    <a:pt x="0" y="1215855"/>
                  </a:cubicBezTo>
                  <a:lnTo>
                    <a:pt x="0" y="60454"/>
                  </a:lnTo>
                  <a:cubicBezTo>
                    <a:pt x="0" y="27066"/>
                    <a:pt x="27066" y="0"/>
                    <a:pt x="60454" y="0"/>
                  </a:cubicBezTo>
                  <a:close/>
                </a:path>
              </a:pathLst>
            </a:custGeom>
            <a:blipFill>
              <a:blip r:embed="rId2"/>
              <a:stretch>
                <a:fillRect l="-1799" t="0" r="-1799" b="0"/>
              </a:stretch>
            </a:blipFill>
          </p:spPr>
        </p:sp>
      </p:grpSp>
      <p:sp>
        <p:nvSpPr>
          <p:cNvPr name="TextBox 7" id="7"/>
          <p:cNvSpPr txBox="true"/>
          <p:nvPr/>
        </p:nvSpPr>
        <p:spPr>
          <a:xfrm rot="0">
            <a:off x="746000" y="2066091"/>
            <a:ext cx="8398000" cy="2761711"/>
          </a:xfrm>
          <a:prstGeom prst="rect">
            <a:avLst/>
          </a:prstGeom>
        </p:spPr>
        <p:txBody>
          <a:bodyPr anchor="t" rtlCol="false" tIns="0" lIns="0" bIns="0" rIns="0">
            <a:spAutoFit/>
          </a:bodyPr>
          <a:lstStyle/>
          <a:p>
            <a:pPr algn="ctr">
              <a:lnSpc>
                <a:spcPts val="7379"/>
              </a:lnSpc>
            </a:pPr>
            <a:r>
              <a:rPr lang="en-US" b="true" sz="5271">
                <a:solidFill>
                  <a:srgbClr val="F7F5F6"/>
                </a:solidFill>
                <a:latin typeface="Bricolage Grotesque Bold"/>
                <a:ea typeface="Bricolage Grotesque Bold"/>
                <a:cs typeface="Bricolage Grotesque Bold"/>
                <a:sym typeface="Bricolage Grotesque Bold"/>
              </a:rPr>
              <a:t>  MASTERING POWER BI                        FOR</a:t>
            </a:r>
          </a:p>
          <a:p>
            <a:pPr algn="ctr">
              <a:lnSpc>
                <a:spcPts val="7379"/>
              </a:lnSpc>
              <a:spcBef>
                <a:spcPct val="0"/>
              </a:spcBef>
            </a:pPr>
            <a:r>
              <a:rPr lang="en-US" b="true" sz="5271">
                <a:solidFill>
                  <a:srgbClr val="F7F5F6"/>
                </a:solidFill>
                <a:latin typeface="Bricolage Grotesque Bold"/>
                <a:ea typeface="Bricolage Grotesque Bold"/>
                <a:cs typeface="Bricolage Grotesque Bold"/>
                <a:sym typeface="Bricolage Grotesque Bold"/>
              </a:rPr>
              <a:t>DATA ANALYSIS</a:t>
            </a:r>
          </a:p>
        </p:txBody>
      </p:sp>
      <p:sp>
        <p:nvSpPr>
          <p:cNvPr name="TextBox 8" id="8"/>
          <p:cNvSpPr txBox="true"/>
          <p:nvPr/>
        </p:nvSpPr>
        <p:spPr>
          <a:xfrm rot="0">
            <a:off x="1028700" y="7609627"/>
            <a:ext cx="15729704" cy="646431"/>
          </a:xfrm>
          <a:prstGeom prst="rect">
            <a:avLst/>
          </a:prstGeom>
        </p:spPr>
        <p:txBody>
          <a:bodyPr anchor="t" rtlCol="false" tIns="0" lIns="0" bIns="0" rIns="0">
            <a:spAutoFit/>
          </a:bodyPr>
          <a:lstStyle/>
          <a:p>
            <a:pPr algn="ctr">
              <a:lnSpc>
                <a:spcPts val="5319"/>
              </a:lnSpc>
              <a:spcBef>
                <a:spcPct val="0"/>
              </a:spcBef>
            </a:pPr>
            <a:r>
              <a:rPr lang="en-US" sz="3799">
                <a:solidFill>
                  <a:srgbClr val="000000"/>
                </a:solidFill>
                <a:latin typeface="Canva Sans 1"/>
                <a:ea typeface="Canva Sans 1"/>
                <a:cs typeface="Canva Sans 1"/>
                <a:sym typeface="Canva Sans 1"/>
              </a:rPr>
              <a:t>B</a:t>
            </a:r>
            <a:r>
              <a:rPr lang="en-US" sz="3799">
                <a:solidFill>
                  <a:srgbClr val="000000"/>
                </a:solidFill>
                <a:latin typeface="Canva Sans 1"/>
                <a:ea typeface="Canva Sans 1"/>
                <a:cs typeface="Canva Sans 1"/>
                <a:sym typeface="Canva Sans 1"/>
              </a:rPr>
              <a:t>uilding smarter decisions together with interactive reporting tools.</a:t>
            </a:r>
          </a:p>
        </p:txBody>
      </p:sp>
      <p:sp>
        <p:nvSpPr>
          <p:cNvPr name="TextBox 9" id="9"/>
          <p:cNvSpPr txBox="true"/>
          <p:nvPr/>
        </p:nvSpPr>
        <p:spPr>
          <a:xfrm rot="0">
            <a:off x="0" y="8428951"/>
            <a:ext cx="17106799" cy="646431"/>
          </a:xfrm>
          <a:prstGeom prst="rect">
            <a:avLst/>
          </a:prstGeom>
        </p:spPr>
        <p:txBody>
          <a:bodyPr anchor="t" rtlCol="false" tIns="0" lIns="0" bIns="0" rIns="0">
            <a:spAutoFit/>
          </a:bodyPr>
          <a:lstStyle/>
          <a:p>
            <a:pPr algn="ctr">
              <a:lnSpc>
                <a:spcPts val="5319"/>
              </a:lnSpc>
              <a:spcBef>
                <a:spcPct val="0"/>
              </a:spcBef>
            </a:pPr>
            <a:r>
              <a:rPr lang="en-US" sz="3799">
                <a:solidFill>
                  <a:srgbClr val="000000"/>
                </a:solidFill>
                <a:latin typeface="Canva Sans 1"/>
                <a:ea typeface="Canva Sans 1"/>
                <a:cs typeface="Canva Sans 1"/>
                <a:sym typeface="Canva Sans 1"/>
              </a:rPr>
              <a:t>T</a:t>
            </a:r>
            <a:r>
              <a:rPr lang="en-US" sz="3799">
                <a:solidFill>
                  <a:srgbClr val="000000"/>
                </a:solidFill>
                <a:latin typeface="Canva Sans 1"/>
                <a:ea typeface="Canva Sans 1"/>
                <a:cs typeface="Canva Sans 1"/>
                <a:sym typeface="Canva Sans 1"/>
              </a:rPr>
              <a:t>urning Complex Data into SmarterDecisions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DE59">
                <a:alpha val="100000"/>
              </a:srgbClr>
            </a:gs>
            <a:gs pos="100000">
              <a:srgbClr val="FF914D">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7595583" y="4294765"/>
            <a:ext cx="7295208" cy="830608"/>
            <a:chOff x="0" y="0"/>
            <a:chExt cx="1921372" cy="218761"/>
          </a:xfrm>
        </p:grpSpPr>
        <p:sp>
          <p:nvSpPr>
            <p:cNvPr name="Freeform 3" id="3"/>
            <p:cNvSpPr/>
            <p:nvPr/>
          </p:nvSpPr>
          <p:spPr>
            <a:xfrm flipH="false" flipV="false" rot="0">
              <a:off x="0" y="0"/>
              <a:ext cx="1921372" cy="218761"/>
            </a:xfrm>
            <a:custGeom>
              <a:avLst/>
              <a:gdLst/>
              <a:ahLst/>
              <a:cxnLst/>
              <a:rect r="r" b="b" t="t" l="l"/>
              <a:pathLst>
                <a:path h="218761" w="1921372">
                  <a:moveTo>
                    <a:pt x="92327" y="0"/>
                  </a:moveTo>
                  <a:lnTo>
                    <a:pt x="1829044" y="0"/>
                  </a:lnTo>
                  <a:cubicBezTo>
                    <a:pt x="1853531" y="0"/>
                    <a:pt x="1877015" y="9727"/>
                    <a:pt x="1894330" y="27042"/>
                  </a:cubicBezTo>
                  <a:cubicBezTo>
                    <a:pt x="1911644" y="44357"/>
                    <a:pt x="1921372" y="67841"/>
                    <a:pt x="1921372" y="92327"/>
                  </a:cubicBezTo>
                  <a:lnTo>
                    <a:pt x="1921372" y="126434"/>
                  </a:lnTo>
                  <a:cubicBezTo>
                    <a:pt x="1921372" y="177425"/>
                    <a:pt x="1880035" y="218761"/>
                    <a:pt x="1829044" y="218761"/>
                  </a:cubicBezTo>
                  <a:lnTo>
                    <a:pt x="92327" y="218761"/>
                  </a:lnTo>
                  <a:cubicBezTo>
                    <a:pt x="41336" y="218761"/>
                    <a:pt x="0" y="177425"/>
                    <a:pt x="0" y="126434"/>
                  </a:cubicBezTo>
                  <a:lnTo>
                    <a:pt x="0" y="92327"/>
                  </a:lnTo>
                  <a:cubicBezTo>
                    <a:pt x="0" y="41336"/>
                    <a:pt x="41336" y="0"/>
                    <a:pt x="92327" y="0"/>
                  </a:cubicBezTo>
                  <a:close/>
                </a:path>
              </a:pathLst>
            </a:custGeom>
            <a:ln w="28575" cap="rnd">
              <a:solidFill>
                <a:srgbClr val="639683"/>
              </a:solidFill>
              <a:prstDash val="solid"/>
              <a:round/>
            </a:ln>
          </p:spPr>
        </p:sp>
        <p:sp>
          <p:nvSpPr>
            <p:cNvPr name="TextBox 4" id="4"/>
            <p:cNvSpPr txBox="true"/>
            <p:nvPr/>
          </p:nvSpPr>
          <p:spPr>
            <a:xfrm>
              <a:off x="0" y="-38100"/>
              <a:ext cx="1921372" cy="256861"/>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364815" y="1612846"/>
            <a:ext cx="5441879" cy="8119974"/>
          </a:xfrm>
          <a:custGeom>
            <a:avLst/>
            <a:gdLst/>
            <a:ahLst/>
            <a:cxnLst/>
            <a:rect r="r" b="b" t="t" l="l"/>
            <a:pathLst>
              <a:path h="8119974" w="5441879">
                <a:moveTo>
                  <a:pt x="0" y="0"/>
                </a:moveTo>
                <a:lnTo>
                  <a:pt x="5441879" y="0"/>
                </a:lnTo>
                <a:lnTo>
                  <a:pt x="5441879" y="8119974"/>
                </a:lnTo>
                <a:lnTo>
                  <a:pt x="0" y="8119974"/>
                </a:lnTo>
                <a:lnTo>
                  <a:pt x="0" y="0"/>
                </a:lnTo>
                <a:close/>
              </a:path>
            </a:pathLst>
          </a:custGeom>
          <a:blipFill>
            <a:blip r:embed="rId2"/>
            <a:stretch>
              <a:fillRect l="-74343" t="0" r="-74343" b="0"/>
            </a:stretch>
          </a:blipFill>
        </p:spPr>
      </p:sp>
      <p:sp>
        <p:nvSpPr>
          <p:cNvPr name="TextBox 6" id="6"/>
          <p:cNvSpPr txBox="true"/>
          <p:nvPr/>
        </p:nvSpPr>
        <p:spPr>
          <a:xfrm rot="0">
            <a:off x="6252369" y="-42183"/>
            <a:ext cx="8039100" cy="2244406"/>
          </a:xfrm>
          <a:prstGeom prst="rect">
            <a:avLst/>
          </a:prstGeom>
        </p:spPr>
        <p:txBody>
          <a:bodyPr anchor="t" rtlCol="false" tIns="0" lIns="0" bIns="0" rIns="0">
            <a:spAutoFit/>
          </a:bodyPr>
          <a:lstStyle/>
          <a:p>
            <a:pPr algn="l">
              <a:lnSpc>
                <a:spcPts val="18385"/>
              </a:lnSpc>
              <a:spcBef>
                <a:spcPct val="0"/>
              </a:spcBef>
            </a:pPr>
            <a:r>
              <a:rPr lang="en-US" sz="13132">
                <a:solidFill>
                  <a:srgbClr val="473F3F"/>
                </a:solidFill>
                <a:latin typeface="Bricolage Grotesque"/>
                <a:ea typeface="Bricolage Grotesque"/>
                <a:cs typeface="Bricolage Grotesque"/>
                <a:sym typeface="Bricolage Grotesque"/>
              </a:rPr>
              <a:t>ANALYSIS </a:t>
            </a:r>
          </a:p>
        </p:txBody>
      </p:sp>
      <p:sp>
        <p:nvSpPr>
          <p:cNvPr name="TextBox 7" id="7"/>
          <p:cNvSpPr txBox="true"/>
          <p:nvPr/>
        </p:nvSpPr>
        <p:spPr>
          <a:xfrm rot="0">
            <a:off x="6252369" y="1760615"/>
            <a:ext cx="9291393" cy="2244406"/>
          </a:xfrm>
          <a:prstGeom prst="rect">
            <a:avLst/>
          </a:prstGeom>
        </p:spPr>
        <p:txBody>
          <a:bodyPr anchor="t" rtlCol="false" tIns="0" lIns="0" bIns="0" rIns="0">
            <a:spAutoFit/>
          </a:bodyPr>
          <a:lstStyle/>
          <a:p>
            <a:pPr algn="l">
              <a:lnSpc>
                <a:spcPts val="18385"/>
              </a:lnSpc>
              <a:spcBef>
                <a:spcPct val="0"/>
              </a:spcBef>
            </a:pPr>
            <a:r>
              <a:rPr lang="en-US" b="true" sz="13132">
                <a:solidFill>
                  <a:srgbClr val="639683"/>
                </a:solidFill>
                <a:latin typeface="Bricolage Grotesque Bold"/>
                <a:ea typeface="Bricolage Grotesque Bold"/>
                <a:cs typeface="Bricolage Grotesque Bold"/>
                <a:sym typeface="Bricolage Grotesque Bold"/>
              </a:rPr>
              <a:t>OVERV</a:t>
            </a:r>
            <a:r>
              <a:rPr lang="en-US" b="true" sz="13132">
                <a:solidFill>
                  <a:srgbClr val="639683"/>
                </a:solidFill>
                <a:latin typeface="Bricolage Grotesque Bold"/>
                <a:ea typeface="Bricolage Grotesque Bold"/>
                <a:cs typeface="Bricolage Grotesque Bold"/>
                <a:sym typeface="Bricolage Grotesque Bold"/>
              </a:rPr>
              <a:t>IEW</a:t>
            </a:r>
          </a:p>
        </p:txBody>
      </p:sp>
      <p:sp>
        <p:nvSpPr>
          <p:cNvPr name="TextBox 8" id="8"/>
          <p:cNvSpPr txBox="true"/>
          <p:nvPr/>
        </p:nvSpPr>
        <p:spPr>
          <a:xfrm rot="0">
            <a:off x="7189231" y="5404350"/>
            <a:ext cx="3106672" cy="4328470"/>
          </a:xfrm>
          <a:prstGeom prst="rect">
            <a:avLst/>
          </a:prstGeom>
        </p:spPr>
        <p:txBody>
          <a:bodyPr anchor="t" rtlCol="false" tIns="0" lIns="0" bIns="0" rIns="0">
            <a:spAutoFit/>
          </a:bodyPr>
          <a:lstStyle/>
          <a:p>
            <a:pPr algn="just" marL="337954" indent="-168977" lvl="1">
              <a:lnSpc>
                <a:spcPts val="2191"/>
              </a:lnSpc>
              <a:buFont typeface="Arial"/>
              <a:buChar char="•"/>
            </a:pPr>
            <a:r>
              <a:rPr lang="en-US" sz="1565">
                <a:solidFill>
                  <a:srgbClr val="473F3F"/>
                </a:solidFill>
                <a:latin typeface="Canva Sans 2"/>
                <a:ea typeface="Canva Sans 2"/>
                <a:cs typeface="Canva Sans 2"/>
                <a:sym typeface="Canva Sans 2"/>
              </a:rPr>
              <a:t>The P</a:t>
            </a:r>
            <a:r>
              <a:rPr lang="en-US" sz="1565">
                <a:solidFill>
                  <a:srgbClr val="473F3F"/>
                </a:solidFill>
                <a:latin typeface="Canva Sans 2"/>
                <a:ea typeface="Canva Sans 2"/>
                <a:cs typeface="Canva Sans 2"/>
                <a:sym typeface="Canva Sans 2"/>
              </a:rPr>
              <a:t>roblem: Companies generate heavy data daily but struggle to understand what it signifies.</a:t>
            </a:r>
          </a:p>
          <a:p>
            <a:pPr algn="just" marL="337954" indent="-168977" lvl="1">
              <a:lnSpc>
                <a:spcPts val="2191"/>
              </a:lnSpc>
              <a:buFont typeface="Arial"/>
              <a:buChar char="•"/>
            </a:pPr>
            <a:r>
              <a:rPr lang="en-US" sz="1565">
                <a:solidFill>
                  <a:srgbClr val="473F3F"/>
                </a:solidFill>
                <a:latin typeface="Canva Sans 2"/>
                <a:ea typeface="Canva Sans 2"/>
                <a:cs typeface="Canva Sans 2"/>
                <a:sym typeface="Canva Sans 2"/>
              </a:rPr>
              <a:t>The Mission: Turn complex numbers into clear, useful insights for smart business decisions.</a:t>
            </a:r>
          </a:p>
          <a:p>
            <a:pPr algn="just" marL="337954" indent="-168977" lvl="1">
              <a:lnSpc>
                <a:spcPts val="2191"/>
              </a:lnSpc>
              <a:buFont typeface="Arial"/>
              <a:buChar char="•"/>
            </a:pPr>
            <a:r>
              <a:rPr lang="en-US" sz="1565">
                <a:solidFill>
                  <a:srgbClr val="473F3F"/>
                </a:solidFill>
                <a:latin typeface="Canva Sans 2"/>
                <a:ea typeface="Canva Sans 2"/>
                <a:cs typeface="Canva Sans 2"/>
                <a:sym typeface="Canva Sans 2"/>
              </a:rPr>
              <a:t>The Tool: Utilize Microsoft Power BI to build interactive dashboards and track business metrics easily.</a:t>
            </a:r>
          </a:p>
          <a:p>
            <a:pPr algn="just">
              <a:lnSpc>
                <a:spcPts val="2191"/>
              </a:lnSpc>
            </a:pPr>
          </a:p>
          <a:p>
            <a:pPr algn="just">
              <a:lnSpc>
                <a:spcPts val="2191"/>
              </a:lnSpc>
            </a:pPr>
          </a:p>
          <a:p>
            <a:pPr algn="just">
              <a:lnSpc>
                <a:spcPts val="2191"/>
              </a:lnSpc>
            </a:pPr>
          </a:p>
          <a:p>
            <a:pPr algn="just">
              <a:lnSpc>
                <a:spcPts val="1554"/>
              </a:lnSpc>
              <a:spcBef>
                <a:spcPct val="0"/>
              </a:spcBef>
            </a:pPr>
          </a:p>
        </p:txBody>
      </p:sp>
      <p:sp>
        <p:nvSpPr>
          <p:cNvPr name="TextBox 9" id="9"/>
          <p:cNvSpPr txBox="true"/>
          <p:nvPr/>
        </p:nvSpPr>
        <p:spPr>
          <a:xfrm rot="0">
            <a:off x="12666194" y="5419725"/>
            <a:ext cx="3991742" cy="5031105"/>
          </a:xfrm>
          <a:prstGeom prst="rect">
            <a:avLst/>
          </a:prstGeom>
        </p:spPr>
        <p:txBody>
          <a:bodyPr anchor="t" rtlCol="false" tIns="0" lIns="0" bIns="0" rIns="0">
            <a:spAutoFit/>
          </a:bodyPr>
          <a:lstStyle/>
          <a:p>
            <a:pPr algn="l" marL="388623" indent="-194312" lvl="1">
              <a:lnSpc>
                <a:spcPts val="2520"/>
              </a:lnSpc>
              <a:buFont typeface="Arial"/>
              <a:buChar char="•"/>
            </a:pPr>
            <a:r>
              <a:rPr lang="en-US" sz="1800">
                <a:solidFill>
                  <a:srgbClr val="473F3F"/>
                </a:solidFill>
                <a:latin typeface="Bricolage Grotesque"/>
                <a:ea typeface="Bricolage Grotesque"/>
                <a:cs typeface="Bricolage Grotesque"/>
                <a:sym typeface="Bricolage Grotesque"/>
              </a:rPr>
              <a:t>Daily Operati</a:t>
            </a:r>
            <a:r>
              <a:rPr lang="en-US" sz="1800">
                <a:solidFill>
                  <a:srgbClr val="473F3F"/>
                </a:solidFill>
                <a:latin typeface="Bricolage Grotesque"/>
                <a:ea typeface="Bricolage Grotesque"/>
                <a:cs typeface="Bricolage Grotesque"/>
                <a:sym typeface="Bricolage Grotesque"/>
              </a:rPr>
              <a:t>ons: Extracting raw transactional data from daily sales figures and company expenses.</a:t>
            </a:r>
          </a:p>
          <a:p>
            <a:pPr algn="l" marL="388623" indent="-194312" lvl="1">
              <a:lnSpc>
                <a:spcPts val="2520"/>
              </a:lnSpc>
              <a:buFont typeface="Arial"/>
              <a:buChar char="•"/>
            </a:pPr>
            <a:r>
              <a:rPr lang="en-US" sz="1800">
                <a:solidFill>
                  <a:srgbClr val="473F3F"/>
                </a:solidFill>
                <a:latin typeface="Bricolage Grotesque"/>
                <a:ea typeface="Bricolage Grotesque"/>
                <a:cs typeface="Bricolage Grotesque"/>
                <a:sym typeface="Bricolage Grotesque"/>
              </a:rPr>
              <a:t>Digital Platforms: Gathering dynamic user interaction records directly from website touchpoints.</a:t>
            </a:r>
          </a:p>
          <a:p>
            <a:pPr algn="l" marL="388623" indent="-194312" lvl="1">
              <a:lnSpc>
                <a:spcPts val="2520"/>
              </a:lnSpc>
              <a:buFont typeface="Arial"/>
              <a:buChar char="•"/>
            </a:pPr>
            <a:r>
              <a:rPr lang="en-US" sz="1800">
                <a:solidFill>
                  <a:srgbClr val="473F3F"/>
                </a:solidFill>
                <a:latin typeface="Bricolage Grotesque"/>
                <a:ea typeface="Bricolage Grotesque"/>
                <a:cs typeface="Bricolage Grotesque"/>
                <a:sym typeface="Bricolage Grotesque"/>
              </a:rPr>
              <a:t>Customer Systems: Compiling detailed client database profiles and overall relationship history metrics.</a:t>
            </a:r>
          </a:p>
          <a:p>
            <a:pPr algn="l">
              <a:lnSpc>
                <a:spcPts val="2520"/>
              </a:lnSpc>
            </a:pPr>
          </a:p>
          <a:p>
            <a:pPr algn="l">
              <a:lnSpc>
                <a:spcPts val="2520"/>
              </a:lnSpc>
            </a:pPr>
          </a:p>
          <a:p>
            <a:pPr algn="l">
              <a:lnSpc>
                <a:spcPts val="2520"/>
              </a:lnSpc>
            </a:pPr>
          </a:p>
          <a:p>
            <a:pPr algn="l">
              <a:lnSpc>
                <a:spcPts val="2520"/>
              </a:lnSpc>
              <a:spcBef>
                <a:spcPct val="0"/>
              </a:spcBef>
            </a:pPr>
          </a:p>
        </p:txBody>
      </p:sp>
      <p:sp>
        <p:nvSpPr>
          <p:cNvPr name="TextBox 10" id="10"/>
          <p:cNvSpPr txBox="true"/>
          <p:nvPr/>
        </p:nvSpPr>
        <p:spPr>
          <a:xfrm rot="0">
            <a:off x="7930578" y="4264948"/>
            <a:ext cx="6625218" cy="860425"/>
          </a:xfrm>
          <a:prstGeom prst="rect">
            <a:avLst/>
          </a:prstGeom>
        </p:spPr>
        <p:txBody>
          <a:bodyPr anchor="t" rtlCol="false" tIns="0" lIns="0" bIns="0" rIns="0">
            <a:spAutoFit/>
          </a:bodyPr>
          <a:lstStyle/>
          <a:p>
            <a:pPr algn="l">
              <a:lnSpc>
                <a:spcPts val="3499"/>
              </a:lnSpc>
            </a:pPr>
            <a:r>
              <a:rPr lang="en-US" sz="2499" b="true">
                <a:solidFill>
                  <a:srgbClr val="639683"/>
                </a:solidFill>
                <a:latin typeface="Bricolage Grotesque Bold"/>
                <a:ea typeface="Bricolage Grotesque Bold"/>
                <a:cs typeface="Bricolage Grotesque Bold"/>
                <a:sym typeface="Bricolage Grotesque Bold"/>
              </a:rPr>
              <a:t>                              THE NEED FOR </a:t>
            </a:r>
          </a:p>
          <a:p>
            <a:pPr algn="l">
              <a:lnSpc>
                <a:spcPts val="3499"/>
              </a:lnSpc>
              <a:spcBef>
                <a:spcPct val="0"/>
              </a:spcBef>
            </a:pPr>
            <a:r>
              <a:rPr lang="en-US" b="true" sz="2499">
                <a:solidFill>
                  <a:srgbClr val="639683"/>
                </a:solidFill>
                <a:latin typeface="Bricolage Grotesque Bold"/>
                <a:ea typeface="Bricolage Grotesque Bold"/>
                <a:cs typeface="Bricolage Grotesque Bold"/>
                <a:sym typeface="Bricolage Grotesque Bold"/>
              </a:rPr>
              <a:t>                            VISUAL ANALYTICS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DE59">
                <a:alpha val="100000"/>
              </a:srgbClr>
            </a:gs>
            <a:gs pos="100000">
              <a:srgbClr val="FF914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1168494" y="7026471"/>
            <a:ext cx="6849947" cy="3024308"/>
          </a:xfrm>
          <a:custGeom>
            <a:avLst/>
            <a:gdLst/>
            <a:ahLst/>
            <a:cxnLst/>
            <a:rect r="r" b="b" t="t" l="l"/>
            <a:pathLst>
              <a:path h="3024308" w="6849947">
                <a:moveTo>
                  <a:pt x="0" y="0"/>
                </a:moveTo>
                <a:lnTo>
                  <a:pt x="6849947" y="0"/>
                </a:lnTo>
                <a:lnTo>
                  <a:pt x="6849947" y="3024308"/>
                </a:lnTo>
                <a:lnTo>
                  <a:pt x="0" y="3024308"/>
                </a:lnTo>
                <a:lnTo>
                  <a:pt x="0" y="0"/>
                </a:lnTo>
                <a:close/>
              </a:path>
            </a:pathLst>
          </a:custGeom>
          <a:blipFill>
            <a:blip r:embed="rId2"/>
            <a:stretch>
              <a:fillRect l="0" t="-30755" r="0" b="-19864"/>
            </a:stretch>
          </a:blipFill>
        </p:spPr>
      </p:sp>
      <p:sp>
        <p:nvSpPr>
          <p:cNvPr name="TextBox 3" id="3"/>
          <p:cNvSpPr txBox="true"/>
          <p:nvPr/>
        </p:nvSpPr>
        <p:spPr>
          <a:xfrm rot="0">
            <a:off x="2370326" y="402044"/>
            <a:ext cx="14585320" cy="1044358"/>
          </a:xfrm>
          <a:prstGeom prst="rect">
            <a:avLst/>
          </a:prstGeom>
        </p:spPr>
        <p:txBody>
          <a:bodyPr anchor="t" rtlCol="false" tIns="0" lIns="0" bIns="0" rIns="0">
            <a:spAutoFit/>
          </a:bodyPr>
          <a:lstStyle/>
          <a:p>
            <a:pPr algn="ctr">
              <a:lnSpc>
                <a:spcPts val="8586"/>
              </a:lnSpc>
              <a:spcBef>
                <a:spcPct val="0"/>
              </a:spcBef>
            </a:pPr>
            <a:r>
              <a:rPr lang="en-US" b="true" sz="6133">
                <a:solidFill>
                  <a:srgbClr val="473F3F"/>
                </a:solidFill>
                <a:latin typeface="Bricolage Grotesque Bold"/>
                <a:ea typeface="Bricolage Grotesque Bold"/>
                <a:cs typeface="Bricolage Grotesque Bold"/>
                <a:sym typeface="Bricolage Grotesque Bold"/>
              </a:rPr>
              <a:t>D</a:t>
            </a:r>
            <a:r>
              <a:rPr lang="en-US" b="true" sz="6133">
                <a:solidFill>
                  <a:srgbClr val="473F3F"/>
                </a:solidFill>
                <a:latin typeface="Bricolage Grotesque Bold"/>
                <a:ea typeface="Bricolage Grotesque Bold"/>
                <a:cs typeface="Bricolage Grotesque Bold"/>
                <a:sym typeface="Bricolage Grotesque Bold"/>
              </a:rPr>
              <a:t>ATA COLLECTION &amp; INTRODUCTION </a:t>
            </a:r>
          </a:p>
        </p:txBody>
      </p:sp>
      <p:sp>
        <p:nvSpPr>
          <p:cNvPr name="TextBox 4" id="4"/>
          <p:cNvSpPr txBox="true"/>
          <p:nvPr/>
        </p:nvSpPr>
        <p:spPr>
          <a:xfrm rot="0">
            <a:off x="5493510" y="2039490"/>
            <a:ext cx="6507044" cy="587376"/>
          </a:xfrm>
          <a:prstGeom prst="rect">
            <a:avLst/>
          </a:prstGeom>
        </p:spPr>
        <p:txBody>
          <a:bodyPr anchor="t" rtlCol="false" tIns="0" lIns="0" bIns="0" rIns="0">
            <a:spAutoFit/>
          </a:bodyPr>
          <a:lstStyle/>
          <a:p>
            <a:pPr algn="ctr">
              <a:lnSpc>
                <a:spcPts val="4899"/>
              </a:lnSpc>
              <a:spcBef>
                <a:spcPct val="0"/>
              </a:spcBef>
            </a:pPr>
            <a:r>
              <a:rPr lang="en-US" b="true" sz="3499">
                <a:solidFill>
                  <a:srgbClr val="000000"/>
                </a:solidFill>
                <a:latin typeface="Canva Sans 1 Bold"/>
                <a:ea typeface="Canva Sans 1 Bold"/>
                <a:cs typeface="Canva Sans 1 Bold"/>
                <a:sym typeface="Canva Sans 1 Bold"/>
              </a:rPr>
              <a:t>What is Power BI  ?</a:t>
            </a:r>
          </a:p>
        </p:txBody>
      </p:sp>
      <p:sp>
        <p:nvSpPr>
          <p:cNvPr name="TextBox 5" id="5"/>
          <p:cNvSpPr txBox="true"/>
          <p:nvPr/>
        </p:nvSpPr>
        <p:spPr>
          <a:xfrm rot="0">
            <a:off x="3336132" y="3103832"/>
            <a:ext cx="11338383" cy="4246086"/>
          </a:xfrm>
          <a:prstGeom prst="rect">
            <a:avLst/>
          </a:prstGeom>
        </p:spPr>
        <p:txBody>
          <a:bodyPr anchor="t" rtlCol="false" tIns="0" lIns="0" bIns="0" rIns="0">
            <a:spAutoFit/>
          </a:bodyPr>
          <a:lstStyle/>
          <a:p>
            <a:pPr algn="l">
              <a:lnSpc>
                <a:spcPts val="4838"/>
              </a:lnSpc>
              <a:spcBef>
                <a:spcPct val="0"/>
              </a:spcBef>
            </a:pPr>
            <a:r>
              <a:rPr lang="en-US" b="true" sz="3456">
                <a:solidFill>
                  <a:srgbClr val="000000"/>
                </a:solidFill>
                <a:latin typeface="Canva Sans 1 Bold"/>
                <a:ea typeface="Canva Sans 1 Bold"/>
                <a:cs typeface="Canva Sans 1 Bold"/>
                <a:sym typeface="Canva Sans 1 Bold"/>
              </a:rPr>
              <a:t>Microsoft Power BI is a highly scalable, cloud-based b</a:t>
            </a:r>
            <a:r>
              <a:rPr lang="en-US" b="true" sz="3456">
                <a:solidFill>
                  <a:srgbClr val="000000"/>
                </a:solidFill>
                <a:latin typeface="Canva Sans 1 Bold"/>
                <a:ea typeface="Canva Sans 1 Bold"/>
                <a:cs typeface="Canva Sans 1 Bold"/>
                <a:sym typeface="Canva Sans 1 Bold"/>
              </a:rPr>
              <a:t>usiness intelligence software program explicitly designed to enable global organizations to seamlessly combine raw statistics from varied, isolated data sources and dynamically transform that data into interactive, meaningful enterprise reports and unified dashboards.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DE59">
                <a:alpha val="100000"/>
              </a:srgbClr>
            </a:gs>
            <a:gs pos="100000">
              <a:srgbClr val="FF914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87671" y="1540232"/>
            <a:ext cx="5364057" cy="7718068"/>
          </a:xfrm>
          <a:custGeom>
            <a:avLst/>
            <a:gdLst/>
            <a:ahLst/>
            <a:cxnLst/>
            <a:rect r="r" b="b" t="t" l="l"/>
            <a:pathLst>
              <a:path h="7718068" w="5364057">
                <a:moveTo>
                  <a:pt x="0" y="0"/>
                </a:moveTo>
                <a:lnTo>
                  <a:pt x="5364057" y="0"/>
                </a:lnTo>
                <a:lnTo>
                  <a:pt x="5364057" y="7718068"/>
                </a:lnTo>
                <a:lnTo>
                  <a:pt x="0" y="77180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291341" y="6373172"/>
            <a:ext cx="3703761" cy="3666723"/>
          </a:xfrm>
          <a:custGeom>
            <a:avLst/>
            <a:gdLst/>
            <a:ahLst/>
            <a:cxnLst/>
            <a:rect r="r" b="b" t="t" l="l"/>
            <a:pathLst>
              <a:path h="3666723" w="3703761">
                <a:moveTo>
                  <a:pt x="0" y="0"/>
                </a:moveTo>
                <a:lnTo>
                  <a:pt x="3703761" y="0"/>
                </a:lnTo>
                <a:lnTo>
                  <a:pt x="3703761" y="3666724"/>
                </a:lnTo>
                <a:lnTo>
                  <a:pt x="0" y="36667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5950424" y="4180497"/>
            <a:ext cx="12209979" cy="3506380"/>
          </a:xfrm>
          <a:prstGeom prst="rect">
            <a:avLst/>
          </a:prstGeom>
        </p:spPr>
        <p:txBody>
          <a:bodyPr anchor="t" rtlCol="false" tIns="0" lIns="0" bIns="0" rIns="0">
            <a:spAutoFit/>
          </a:bodyPr>
          <a:lstStyle/>
          <a:p>
            <a:pPr algn="just" marL="475747" indent="-237873" lvl="1">
              <a:lnSpc>
                <a:spcPts val="3084"/>
              </a:lnSpc>
              <a:spcBef>
                <a:spcPct val="0"/>
              </a:spcBef>
              <a:buFont typeface="Arial"/>
              <a:buChar char="•"/>
            </a:pPr>
            <a:r>
              <a:rPr lang="en-US" b="true" sz="2203">
                <a:solidFill>
                  <a:srgbClr val="473F3F"/>
                </a:solidFill>
                <a:latin typeface="Bricolage Grotesque Bold"/>
                <a:ea typeface="Bricolage Grotesque Bold"/>
                <a:cs typeface="Bricolage Grotesque Bold"/>
                <a:sym typeface="Bricolage Grotesque Bold"/>
              </a:rPr>
              <a:t>DESKTOP APP: FREE L</a:t>
            </a:r>
            <a:r>
              <a:rPr lang="en-US" b="true" sz="2203">
                <a:solidFill>
                  <a:srgbClr val="473F3F"/>
                </a:solidFill>
                <a:latin typeface="Bricolage Grotesque Bold"/>
                <a:ea typeface="Bricolage Grotesque Bold"/>
                <a:cs typeface="Bricolage Grotesque Bold"/>
                <a:sym typeface="Bricolage Grotesque Bold"/>
              </a:rPr>
              <a:t>OCAL ENVIRONMENT TO SHAPE AND TRANSFORM RAW FILES.</a:t>
            </a:r>
          </a:p>
          <a:p>
            <a:pPr algn="just" marL="475747" indent="-237873" lvl="1">
              <a:lnSpc>
                <a:spcPts val="3084"/>
              </a:lnSpc>
              <a:spcBef>
                <a:spcPct val="0"/>
              </a:spcBef>
              <a:buFont typeface="Arial"/>
              <a:buChar char="•"/>
            </a:pPr>
            <a:r>
              <a:rPr lang="en-US" b="true" sz="2203">
                <a:solidFill>
                  <a:srgbClr val="473F3F"/>
                </a:solidFill>
                <a:latin typeface="Bricolage Grotesque Bold"/>
                <a:ea typeface="Bricolage Grotesque Bold"/>
                <a:cs typeface="Bricolage Grotesque Bold"/>
                <a:sym typeface="Bricolage Grotesque Bold"/>
              </a:rPr>
              <a:t>POWER QUERY: SPECIALIZED MODULE TO WASH AND PREPARE DATA.</a:t>
            </a:r>
          </a:p>
          <a:p>
            <a:pPr algn="just" marL="475747" indent="-237873" lvl="1">
              <a:lnSpc>
                <a:spcPts val="3084"/>
              </a:lnSpc>
              <a:spcBef>
                <a:spcPct val="0"/>
              </a:spcBef>
              <a:buFont typeface="Arial"/>
              <a:buChar char="•"/>
            </a:pPr>
            <a:r>
              <a:rPr lang="en-US" b="true" sz="2203">
                <a:solidFill>
                  <a:srgbClr val="473F3F"/>
                </a:solidFill>
                <a:latin typeface="Bricolage Grotesque Bold"/>
                <a:ea typeface="Bricolage Grotesque Bold"/>
                <a:cs typeface="Bricolage Grotesque Bold"/>
                <a:sym typeface="Bricolage Grotesque Bold"/>
              </a:rPr>
              <a:t>SMART CLEANING: REMOVES DUPLICATE RECORDS AND FIXES CORRUPTED FORMATS.</a:t>
            </a:r>
          </a:p>
          <a:p>
            <a:pPr algn="just" marL="475747" indent="-237873" lvl="1">
              <a:lnSpc>
                <a:spcPts val="3084"/>
              </a:lnSpc>
              <a:spcBef>
                <a:spcPct val="0"/>
              </a:spcBef>
              <a:buFont typeface="Arial"/>
              <a:buChar char="•"/>
            </a:pPr>
            <a:r>
              <a:rPr lang="en-US" b="true" sz="2203">
                <a:solidFill>
                  <a:srgbClr val="473F3F"/>
                </a:solidFill>
                <a:latin typeface="Bricolage Grotesque Bold"/>
                <a:ea typeface="Bricolage Grotesque Bold"/>
                <a:cs typeface="Bricolage Grotesque Bold"/>
                <a:sym typeface="Bricolage Grotesque Bold"/>
              </a:rPr>
              <a:t>MISSING VALUES: HANDLES BLANK SPACES TO AVOID FINAL REPORTING CRASHES.</a:t>
            </a:r>
          </a:p>
          <a:p>
            <a:pPr algn="just" marL="475747" indent="-237873" lvl="1">
              <a:lnSpc>
                <a:spcPts val="3084"/>
              </a:lnSpc>
              <a:spcBef>
                <a:spcPct val="0"/>
              </a:spcBef>
              <a:buFont typeface="Arial"/>
              <a:buChar char="•"/>
            </a:pPr>
            <a:r>
              <a:rPr lang="en-US" b="true" sz="2203">
                <a:solidFill>
                  <a:srgbClr val="473F3F"/>
                </a:solidFill>
                <a:latin typeface="Bricolage Grotesque Bold"/>
                <a:ea typeface="Bricolage Grotesque Bold"/>
                <a:cs typeface="Bricolage Grotesque Bold"/>
                <a:sym typeface="Bricolage Grotesque Bold"/>
              </a:rPr>
              <a:t>EFFICIENCY: PREPARES EVERYTHING PERFECTLY BEFORE BUILDING LIVE DASHBOARDS.</a:t>
            </a:r>
          </a:p>
          <a:p>
            <a:pPr algn="just">
              <a:lnSpc>
                <a:spcPts val="3084"/>
              </a:lnSpc>
              <a:spcBef>
                <a:spcPct val="0"/>
              </a:spcBef>
            </a:pPr>
          </a:p>
          <a:p>
            <a:pPr algn="just">
              <a:lnSpc>
                <a:spcPts val="3084"/>
              </a:lnSpc>
              <a:spcBef>
                <a:spcPct val="0"/>
              </a:spcBef>
            </a:pPr>
          </a:p>
          <a:p>
            <a:pPr algn="just">
              <a:lnSpc>
                <a:spcPts val="3084"/>
              </a:lnSpc>
              <a:spcBef>
                <a:spcPct val="0"/>
              </a:spcBef>
            </a:pPr>
          </a:p>
          <a:p>
            <a:pPr algn="just">
              <a:lnSpc>
                <a:spcPts val="3084"/>
              </a:lnSpc>
              <a:spcBef>
                <a:spcPct val="0"/>
              </a:spcBef>
            </a:pPr>
          </a:p>
        </p:txBody>
      </p:sp>
      <p:sp>
        <p:nvSpPr>
          <p:cNvPr name="TextBox 5" id="5"/>
          <p:cNvSpPr txBox="true"/>
          <p:nvPr/>
        </p:nvSpPr>
        <p:spPr>
          <a:xfrm rot="0">
            <a:off x="5067224" y="404905"/>
            <a:ext cx="12406050" cy="763686"/>
          </a:xfrm>
          <a:prstGeom prst="rect">
            <a:avLst/>
          </a:prstGeom>
        </p:spPr>
        <p:txBody>
          <a:bodyPr anchor="t" rtlCol="false" tIns="0" lIns="0" bIns="0" rIns="0">
            <a:spAutoFit/>
          </a:bodyPr>
          <a:lstStyle/>
          <a:p>
            <a:pPr algn="ctr">
              <a:lnSpc>
                <a:spcPts val="6207"/>
              </a:lnSpc>
              <a:spcBef>
                <a:spcPct val="0"/>
              </a:spcBef>
            </a:pPr>
            <a:r>
              <a:rPr lang="en-US" b="true" sz="4433" u="sng">
                <a:solidFill>
                  <a:srgbClr val="473F3F"/>
                </a:solidFill>
                <a:latin typeface="Bricolage Grotesque Bold"/>
                <a:ea typeface="Bricolage Grotesque Bold"/>
                <a:cs typeface="Bricolage Grotesque Bold"/>
                <a:sym typeface="Bricolage Grotesque Bold"/>
              </a:rPr>
              <a:t>D</a:t>
            </a:r>
            <a:r>
              <a:rPr lang="en-US" b="true" sz="4433" u="sng">
                <a:solidFill>
                  <a:srgbClr val="473F3F"/>
                </a:solidFill>
                <a:latin typeface="Bricolage Grotesque Bold"/>
                <a:ea typeface="Bricolage Grotesque Bold"/>
                <a:cs typeface="Bricolage Grotesque Bold"/>
                <a:sym typeface="Bricolage Grotesque Bold"/>
              </a:rPr>
              <a:t>ATA PREPARATION </a:t>
            </a:r>
          </a:p>
        </p:txBody>
      </p:sp>
      <p:sp>
        <p:nvSpPr>
          <p:cNvPr name="TextBox 6" id="6"/>
          <p:cNvSpPr txBox="true"/>
          <p:nvPr/>
        </p:nvSpPr>
        <p:spPr>
          <a:xfrm rot="0">
            <a:off x="7250519" y="2822690"/>
            <a:ext cx="8331412" cy="422275"/>
          </a:xfrm>
          <a:prstGeom prst="rect">
            <a:avLst/>
          </a:prstGeom>
        </p:spPr>
        <p:txBody>
          <a:bodyPr anchor="t" rtlCol="false" tIns="0" lIns="0" bIns="0" rIns="0">
            <a:spAutoFit/>
          </a:bodyPr>
          <a:lstStyle/>
          <a:p>
            <a:pPr algn="ctr">
              <a:lnSpc>
                <a:spcPts val="3499"/>
              </a:lnSpc>
              <a:spcBef>
                <a:spcPct val="0"/>
              </a:spcBef>
            </a:pPr>
            <a:r>
              <a:rPr lang="en-US" b="true" sz="2499" u="sng">
                <a:solidFill>
                  <a:srgbClr val="473F3F"/>
                </a:solidFill>
                <a:latin typeface="Bricolage Grotesque Bold"/>
                <a:ea typeface="Bricolage Grotesque Bold"/>
                <a:cs typeface="Bricolage Grotesque Bold"/>
                <a:sym typeface="Bricolage Grotesque Bold"/>
              </a:rPr>
              <a:t>DATA PREPRATION &amp; CLEANING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DE59">
                <a:alpha val="100000"/>
              </a:srgbClr>
            </a:gs>
            <a:gs pos="100000">
              <a:srgbClr val="FF914D">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8863509" y="1932065"/>
            <a:ext cx="8580724" cy="582076"/>
          </a:xfrm>
          <a:prstGeom prst="rect">
            <a:avLst/>
          </a:prstGeom>
        </p:spPr>
        <p:txBody>
          <a:bodyPr anchor="t" rtlCol="false" tIns="0" lIns="0" bIns="0" rIns="0">
            <a:spAutoFit/>
          </a:bodyPr>
          <a:lstStyle/>
          <a:p>
            <a:pPr algn="ctr">
              <a:lnSpc>
                <a:spcPts val="4667"/>
              </a:lnSpc>
              <a:spcBef>
                <a:spcPct val="0"/>
              </a:spcBef>
            </a:pPr>
            <a:r>
              <a:rPr lang="en-US" b="true" sz="3333">
                <a:solidFill>
                  <a:srgbClr val="473F3F"/>
                </a:solidFill>
                <a:latin typeface="Bricolage Grotesque Bold"/>
                <a:ea typeface="Bricolage Grotesque Bold"/>
                <a:cs typeface="Bricolage Grotesque Bold"/>
                <a:sym typeface="Bricolage Grotesque Bold"/>
              </a:rPr>
              <a:t>DATA MODELLING &amp; TREND ANALYSIS</a:t>
            </a:r>
          </a:p>
        </p:txBody>
      </p:sp>
      <p:sp>
        <p:nvSpPr>
          <p:cNvPr name="TextBox 3" id="3"/>
          <p:cNvSpPr txBox="true"/>
          <p:nvPr/>
        </p:nvSpPr>
        <p:spPr>
          <a:xfrm rot="0">
            <a:off x="9144000" y="3225641"/>
            <a:ext cx="8115300" cy="5589905"/>
          </a:xfrm>
          <a:prstGeom prst="rect">
            <a:avLst/>
          </a:prstGeom>
        </p:spPr>
        <p:txBody>
          <a:bodyPr anchor="t" rtlCol="false" tIns="0" lIns="0" bIns="0" rIns="0">
            <a:spAutoFit/>
          </a:bodyPr>
          <a:lstStyle/>
          <a:p>
            <a:pPr algn="l" marL="496571" indent="-248285" lvl="1">
              <a:lnSpc>
                <a:spcPts val="3220"/>
              </a:lnSpc>
              <a:buFont typeface="Arial"/>
              <a:buChar char="•"/>
            </a:pPr>
            <a:r>
              <a:rPr lang="en-US" sz="2300">
                <a:solidFill>
                  <a:srgbClr val="473F3F"/>
                </a:solidFill>
                <a:latin typeface="Bricolage Grotesque"/>
                <a:ea typeface="Bricolage Grotesque"/>
                <a:cs typeface="Bricolage Grotesque"/>
                <a:sym typeface="Bricolage Grotesque"/>
              </a:rPr>
              <a:t>R</a:t>
            </a:r>
            <a:r>
              <a:rPr lang="en-US" sz="2300">
                <a:solidFill>
                  <a:srgbClr val="473F3F"/>
                </a:solidFill>
                <a:latin typeface="Bricolage Grotesque"/>
                <a:ea typeface="Bricolage Grotesque"/>
                <a:cs typeface="Bricolage Grotesque"/>
                <a:sym typeface="Bricolage Grotesque"/>
              </a:rPr>
              <a:t>elationships: Connects isolated tables (Customers, Products, Transactions).</a:t>
            </a:r>
          </a:p>
          <a:p>
            <a:pPr algn="l" marL="496571" indent="-248285" lvl="1">
              <a:lnSpc>
                <a:spcPts val="3220"/>
              </a:lnSpc>
              <a:buFont typeface="Arial"/>
              <a:buChar char="•"/>
            </a:pPr>
            <a:r>
              <a:rPr lang="en-US" sz="2300">
                <a:solidFill>
                  <a:srgbClr val="473F3F"/>
                </a:solidFill>
                <a:latin typeface="Bricolage Grotesque"/>
                <a:ea typeface="Bricolage Grotesque"/>
                <a:cs typeface="Bricolage Grotesque"/>
                <a:sym typeface="Bricolage Grotesque"/>
              </a:rPr>
              <a:t>Reliability: Structuring correct joins ensures 100% accurate metrics.</a:t>
            </a:r>
          </a:p>
          <a:p>
            <a:pPr algn="l" marL="496571" indent="-248285" lvl="1">
              <a:lnSpc>
                <a:spcPts val="3220"/>
              </a:lnSpc>
              <a:buFont typeface="Arial"/>
              <a:buChar char="•"/>
            </a:pPr>
            <a:r>
              <a:rPr lang="en-US" sz="2300">
                <a:solidFill>
                  <a:srgbClr val="473F3F"/>
                </a:solidFill>
                <a:latin typeface="Bricolage Grotesque"/>
                <a:ea typeface="Bricolage Grotesque"/>
                <a:cs typeface="Bricolage Grotesque"/>
                <a:sym typeface="Bricolage Grotesque"/>
              </a:rPr>
              <a:t>DAX Language: Data Analysis Expressions formula language for calculations.</a:t>
            </a:r>
          </a:p>
          <a:p>
            <a:pPr algn="l" marL="496571" indent="-248285" lvl="1">
              <a:lnSpc>
                <a:spcPts val="3220"/>
              </a:lnSpc>
              <a:buFont typeface="Arial"/>
              <a:buChar char="•"/>
            </a:pPr>
            <a:r>
              <a:rPr lang="en-US" sz="2300">
                <a:solidFill>
                  <a:srgbClr val="473F3F"/>
                </a:solidFill>
                <a:latin typeface="Bricolage Grotesque"/>
                <a:ea typeface="Bricolage Grotesque"/>
                <a:cs typeface="Bricolage Grotesque"/>
                <a:sym typeface="Bricolage Grotesque"/>
              </a:rPr>
              <a:t>Calculations: Measures revenue growth, simple averages, and YoY values.</a:t>
            </a:r>
          </a:p>
          <a:p>
            <a:pPr algn="l" marL="496571" indent="-248285" lvl="1">
              <a:lnSpc>
                <a:spcPts val="3220"/>
              </a:lnSpc>
              <a:buFont typeface="Arial"/>
              <a:buChar char="•"/>
            </a:pPr>
            <a:r>
              <a:rPr lang="en-US" sz="2300">
                <a:solidFill>
                  <a:srgbClr val="473F3F"/>
                </a:solidFill>
                <a:latin typeface="Bricolage Grotesque"/>
                <a:ea typeface="Bricolage Grotesque"/>
                <a:cs typeface="Bricolage Grotesque"/>
                <a:sym typeface="Bricolage Grotesque"/>
              </a:rPr>
              <a:t>Scalability: Handles multi-million rows computation within seconds.</a:t>
            </a:r>
          </a:p>
          <a:p>
            <a:pPr algn="l">
              <a:lnSpc>
                <a:spcPts val="3220"/>
              </a:lnSpc>
            </a:pPr>
          </a:p>
          <a:p>
            <a:pPr algn="l">
              <a:lnSpc>
                <a:spcPts val="3220"/>
              </a:lnSpc>
            </a:pPr>
          </a:p>
          <a:p>
            <a:pPr algn="l">
              <a:lnSpc>
                <a:spcPts val="3220"/>
              </a:lnSpc>
            </a:pPr>
          </a:p>
          <a:p>
            <a:pPr algn="l">
              <a:lnSpc>
                <a:spcPts val="3220"/>
              </a:lnSpc>
              <a:spcBef>
                <a:spcPct val="0"/>
              </a:spcBef>
            </a:pPr>
          </a:p>
        </p:txBody>
      </p:sp>
      <p:grpSp>
        <p:nvGrpSpPr>
          <p:cNvPr name="Group 4" id="4"/>
          <p:cNvGrpSpPr/>
          <p:nvPr/>
        </p:nvGrpSpPr>
        <p:grpSpPr>
          <a:xfrm rot="0">
            <a:off x="162065" y="351187"/>
            <a:ext cx="8981935" cy="9760706"/>
            <a:chOff x="0" y="0"/>
            <a:chExt cx="1391537" cy="1512189"/>
          </a:xfrm>
        </p:grpSpPr>
        <p:sp>
          <p:nvSpPr>
            <p:cNvPr name="Freeform 5" id="5"/>
            <p:cNvSpPr/>
            <p:nvPr/>
          </p:nvSpPr>
          <p:spPr>
            <a:xfrm flipH="false" flipV="false" rot="0">
              <a:off x="0" y="0"/>
              <a:ext cx="1391537" cy="1512189"/>
            </a:xfrm>
            <a:custGeom>
              <a:avLst/>
              <a:gdLst/>
              <a:ahLst/>
              <a:cxnLst/>
              <a:rect r="r" b="b" t="t" l="l"/>
              <a:pathLst>
                <a:path h="1512189" w="1391537">
                  <a:moveTo>
                    <a:pt x="45683" y="0"/>
                  </a:moveTo>
                  <a:lnTo>
                    <a:pt x="1345854" y="0"/>
                  </a:lnTo>
                  <a:cubicBezTo>
                    <a:pt x="1357970" y="0"/>
                    <a:pt x="1369589" y="4813"/>
                    <a:pt x="1378156" y="13380"/>
                  </a:cubicBezTo>
                  <a:cubicBezTo>
                    <a:pt x="1386724" y="21947"/>
                    <a:pt x="1391537" y="33567"/>
                    <a:pt x="1391537" y="45683"/>
                  </a:cubicBezTo>
                  <a:lnTo>
                    <a:pt x="1391537" y="1466506"/>
                  </a:lnTo>
                  <a:cubicBezTo>
                    <a:pt x="1391537" y="1478622"/>
                    <a:pt x="1386724" y="1490241"/>
                    <a:pt x="1378156" y="1498809"/>
                  </a:cubicBezTo>
                  <a:cubicBezTo>
                    <a:pt x="1369589" y="1507376"/>
                    <a:pt x="1357970" y="1512189"/>
                    <a:pt x="1345854" y="1512189"/>
                  </a:cubicBezTo>
                  <a:lnTo>
                    <a:pt x="45683" y="1512189"/>
                  </a:lnTo>
                  <a:cubicBezTo>
                    <a:pt x="33567" y="1512189"/>
                    <a:pt x="21947" y="1507376"/>
                    <a:pt x="13380" y="1498809"/>
                  </a:cubicBezTo>
                  <a:cubicBezTo>
                    <a:pt x="4813" y="1490241"/>
                    <a:pt x="0" y="1478622"/>
                    <a:pt x="0" y="1466506"/>
                  </a:cubicBezTo>
                  <a:lnTo>
                    <a:pt x="0" y="45683"/>
                  </a:lnTo>
                  <a:cubicBezTo>
                    <a:pt x="0" y="33567"/>
                    <a:pt x="4813" y="21947"/>
                    <a:pt x="13380" y="13380"/>
                  </a:cubicBezTo>
                  <a:cubicBezTo>
                    <a:pt x="21947" y="4813"/>
                    <a:pt x="33567" y="0"/>
                    <a:pt x="45683" y="0"/>
                  </a:cubicBezTo>
                  <a:close/>
                </a:path>
              </a:pathLst>
            </a:custGeom>
            <a:blipFill>
              <a:blip r:embed="rId2"/>
              <a:stretch>
                <a:fillRect l="0" t="-18953" r="0" b="-18953"/>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DE59">
                <a:alpha val="100000"/>
              </a:srgbClr>
            </a:gs>
            <a:gs pos="100000">
              <a:srgbClr val="FF914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338899" y="5605034"/>
            <a:ext cx="17295218" cy="4246601"/>
          </a:xfrm>
          <a:custGeom>
            <a:avLst/>
            <a:gdLst/>
            <a:ahLst/>
            <a:cxnLst/>
            <a:rect r="r" b="b" t="t" l="l"/>
            <a:pathLst>
              <a:path h="4246601" w="17295218">
                <a:moveTo>
                  <a:pt x="0" y="0"/>
                </a:moveTo>
                <a:lnTo>
                  <a:pt x="17295218" y="0"/>
                </a:lnTo>
                <a:lnTo>
                  <a:pt x="17295218" y="4246600"/>
                </a:lnTo>
                <a:lnTo>
                  <a:pt x="0" y="4246600"/>
                </a:lnTo>
                <a:lnTo>
                  <a:pt x="0" y="0"/>
                </a:lnTo>
                <a:close/>
              </a:path>
            </a:pathLst>
          </a:custGeom>
          <a:blipFill>
            <a:blip r:embed="rId2"/>
            <a:stretch>
              <a:fillRect l="0" t="-71163" r="0" b="-71163"/>
            </a:stretch>
          </a:blipFill>
        </p:spPr>
      </p:sp>
      <p:sp>
        <p:nvSpPr>
          <p:cNvPr name="TextBox 3" id="3"/>
          <p:cNvSpPr txBox="true"/>
          <p:nvPr/>
        </p:nvSpPr>
        <p:spPr>
          <a:xfrm rot="0">
            <a:off x="1104900" y="1760615"/>
            <a:ext cx="8039100" cy="2244406"/>
          </a:xfrm>
          <a:prstGeom prst="rect">
            <a:avLst/>
          </a:prstGeom>
        </p:spPr>
        <p:txBody>
          <a:bodyPr anchor="t" rtlCol="false" tIns="0" lIns="0" bIns="0" rIns="0">
            <a:spAutoFit/>
          </a:bodyPr>
          <a:lstStyle/>
          <a:p>
            <a:pPr algn="l">
              <a:lnSpc>
                <a:spcPts val="18385"/>
              </a:lnSpc>
              <a:spcBef>
                <a:spcPct val="0"/>
              </a:spcBef>
            </a:pPr>
            <a:r>
              <a:rPr lang="en-US" sz="13132">
                <a:solidFill>
                  <a:srgbClr val="473F3F"/>
                </a:solidFill>
                <a:latin typeface="Bricolage Grotesque"/>
                <a:ea typeface="Bricolage Grotesque"/>
                <a:cs typeface="Bricolage Grotesque"/>
                <a:sym typeface="Bricolage Grotesque"/>
              </a:rPr>
              <a:t>VISU</a:t>
            </a:r>
            <a:r>
              <a:rPr lang="en-US" sz="13132">
                <a:solidFill>
                  <a:srgbClr val="473F3F"/>
                </a:solidFill>
                <a:latin typeface="Bricolage Grotesque"/>
                <a:ea typeface="Bricolage Grotesque"/>
                <a:cs typeface="Bricolage Grotesque"/>
                <a:sym typeface="Bricolage Grotesque"/>
              </a:rPr>
              <a:t>AL</a:t>
            </a:r>
          </a:p>
        </p:txBody>
      </p:sp>
      <p:sp>
        <p:nvSpPr>
          <p:cNvPr name="TextBox 4" id="4"/>
          <p:cNvSpPr txBox="true"/>
          <p:nvPr/>
        </p:nvSpPr>
        <p:spPr>
          <a:xfrm rot="0">
            <a:off x="1104900" y="3243521"/>
            <a:ext cx="8462756" cy="2244406"/>
          </a:xfrm>
          <a:prstGeom prst="rect">
            <a:avLst/>
          </a:prstGeom>
        </p:spPr>
        <p:txBody>
          <a:bodyPr anchor="t" rtlCol="false" tIns="0" lIns="0" bIns="0" rIns="0">
            <a:spAutoFit/>
          </a:bodyPr>
          <a:lstStyle/>
          <a:p>
            <a:pPr algn="l">
              <a:lnSpc>
                <a:spcPts val="18385"/>
              </a:lnSpc>
              <a:spcBef>
                <a:spcPct val="0"/>
              </a:spcBef>
            </a:pPr>
            <a:r>
              <a:rPr lang="en-US" b="true" sz="13132">
                <a:solidFill>
                  <a:srgbClr val="639683"/>
                </a:solidFill>
                <a:latin typeface="Bricolage Grotesque Bold"/>
                <a:ea typeface="Bricolage Grotesque Bold"/>
                <a:cs typeface="Bricolage Grotesque Bold"/>
                <a:sym typeface="Bricolage Grotesque Bold"/>
              </a:rPr>
              <a:t>INS</a:t>
            </a:r>
            <a:r>
              <a:rPr lang="en-US" b="true" sz="13132">
                <a:solidFill>
                  <a:srgbClr val="639683"/>
                </a:solidFill>
                <a:latin typeface="Bricolage Grotesque Bold"/>
                <a:ea typeface="Bricolage Grotesque Bold"/>
                <a:cs typeface="Bricolage Grotesque Bold"/>
                <a:sym typeface="Bricolage Grotesque Bold"/>
              </a:rPr>
              <a:t>IGHTS</a:t>
            </a:r>
          </a:p>
        </p:txBody>
      </p:sp>
      <p:sp>
        <p:nvSpPr>
          <p:cNvPr name="TextBox 5" id="5"/>
          <p:cNvSpPr txBox="true"/>
          <p:nvPr/>
        </p:nvSpPr>
        <p:spPr>
          <a:xfrm rot="0">
            <a:off x="8779732" y="961968"/>
            <a:ext cx="9075569" cy="4406373"/>
          </a:xfrm>
          <a:prstGeom prst="rect">
            <a:avLst/>
          </a:prstGeom>
        </p:spPr>
        <p:txBody>
          <a:bodyPr anchor="t" rtlCol="false" tIns="0" lIns="0" bIns="0" rIns="0">
            <a:spAutoFit/>
          </a:bodyPr>
          <a:lstStyle/>
          <a:p>
            <a:pPr algn="l" marL="679170" indent="-339585" lvl="1">
              <a:lnSpc>
                <a:spcPts val="4404"/>
              </a:lnSpc>
              <a:buFont typeface="Arial"/>
              <a:buChar char="•"/>
            </a:pPr>
            <a:r>
              <a:rPr lang="en-US" sz="3145">
                <a:solidFill>
                  <a:srgbClr val="473F3F"/>
                </a:solidFill>
                <a:latin typeface="Bricolage Grotesque"/>
                <a:ea typeface="Bricolage Grotesque"/>
                <a:cs typeface="Bricolage Grotesque"/>
                <a:sym typeface="Bricolage Grotesque"/>
              </a:rPr>
              <a:t>Visual Stack: P</a:t>
            </a:r>
            <a:r>
              <a:rPr lang="en-US" sz="3145">
                <a:solidFill>
                  <a:srgbClr val="473F3F"/>
                </a:solidFill>
                <a:latin typeface="Bricolage Grotesque"/>
                <a:ea typeface="Bricolage Grotesque"/>
                <a:cs typeface="Bricolage Grotesque"/>
                <a:sym typeface="Bricolage Grotesque"/>
              </a:rPr>
              <a:t>resent data clearly using bar charts, line charts, cards, maps, and tables.</a:t>
            </a:r>
          </a:p>
          <a:p>
            <a:pPr algn="l" marL="679170" indent="-339585" lvl="1">
              <a:lnSpc>
                <a:spcPts val="4404"/>
              </a:lnSpc>
              <a:buFont typeface="Arial"/>
              <a:buChar char="•"/>
            </a:pPr>
            <a:r>
              <a:rPr lang="en-US" sz="3145">
                <a:solidFill>
                  <a:srgbClr val="473F3F"/>
                </a:solidFill>
                <a:latin typeface="Bricolage Grotesque"/>
                <a:ea typeface="Bricolage Grotesque"/>
                <a:cs typeface="Bricolage Grotesque"/>
                <a:sym typeface="Bricolage Grotesque"/>
              </a:rPr>
              <a:t>User Control: Integrate filters and slicers to allow end-users to interact with the screen.</a:t>
            </a:r>
          </a:p>
          <a:p>
            <a:pPr algn="l" marL="679170" indent="-339585" lvl="1">
              <a:lnSpc>
                <a:spcPts val="4404"/>
              </a:lnSpc>
              <a:buFont typeface="Arial"/>
              <a:buChar char="•"/>
            </a:pPr>
            <a:r>
              <a:rPr lang="en-US" sz="3145">
                <a:solidFill>
                  <a:srgbClr val="473F3F"/>
                </a:solidFill>
                <a:latin typeface="Bricolage Grotesque"/>
                <a:ea typeface="Bricolage Grotesque"/>
                <a:cs typeface="Bricolage Grotesque"/>
                <a:sym typeface="Bricolage Grotesque"/>
              </a:rPr>
              <a:t>Design Rule: Always keep dashboards structurally simple, clean, and highly informative.</a:t>
            </a:r>
          </a:p>
          <a:p>
            <a:pPr algn="l">
              <a:lnSpc>
                <a:spcPts val="4404"/>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DE59">
                <a:alpha val="100000"/>
              </a:srgbClr>
            </a:gs>
            <a:gs pos="100000">
              <a:srgbClr val="FF914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208015" y="4592983"/>
            <a:ext cx="8530615" cy="5566354"/>
          </a:xfrm>
          <a:custGeom>
            <a:avLst/>
            <a:gdLst/>
            <a:ahLst/>
            <a:cxnLst/>
            <a:rect r="r" b="b" t="t" l="l"/>
            <a:pathLst>
              <a:path h="5566354" w="8530615">
                <a:moveTo>
                  <a:pt x="0" y="0"/>
                </a:moveTo>
                <a:lnTo>
                  <a:pt x="8530615" y="0"/>
                </a:lnTo>
                <a:lnTo>
                  <a:pt x="8530615" y="5566354"/>
                </a:lnTo>
                <a:lnTo>
                  <a:pt x="0" y="5566354"/>
                </a:lnTo>
                <a:lnTo>
                  <a:pt x="0" y="0"/>
                </a:lnTo>
                <a:close/>
              </a:path>
            </a:pathLst>
          </a:custGeom>
          <a:blipFill>
            <a:blip r:embed="rId2"/>
            <a:stretch>
              <a:fillRect l="-2538" t="-7892" r="-2538" b="0"/>
            </a:stretch>
          </a:blipFill>
        </p:spPr>
      </p:sp>
      <p:sp>
        <p:nvSpPr>
          <p:cNvPr name="Freeform 3" id="3"/>
          <p:cNvSpPr/>
          <p:nvPr/>
        </p:nvSpPr>
        <p:spPr>
          <a:xfrm flipH="false" flipV="false" rot="0">
            <a:off x="13786064" y="525997"/>
            <a:ext cx="3245966" cy="3887384"/>
          </a:xfrm>
          <a:custGeom>
            <a:avLst/>
            <a:gdLst/>
            <a:ahLst/>
            <a:cxnLst/>
            <a:rect r="r" b="b" t="t" l="l"/>
            <a:pathLst>
              <a:path h="3887384" w="3245966">
                <a:moveTo>
                  <a:pt x="0" y="0"/>
                </a:moveTo>
                <a:lnTo>
                  <a:pt x="3245966" y="0"/>
                </a:lnTo>
                <a:lnTo>
                  <a:pt x="3245966" y="3887384"/>
                </a:lnTo>
                <a:lnTo>
                  <a:pt x="0" y="3887384"/>
                </a:lnTo>
                <a:lnTo>
                  <a:pt x="0" y="0"/>
                </a:lnTo>
                <a:close/>
              </a:path>
            </a:pathLst>
          </a:custGeom>
          <a:blipFill>
            <a:blip r:embed="rId3"/>
            <a:stretch>
              <a:fillRect l="0" t="0" r="0" b="0"/>
            </a:stretch>
          </a:blipFill>
        </p:spPr>
      </p:sp>
      <p:sp>
        <p:nvSpPr>
          <p:cNvPr name="TextBox 4" id="4"/>
          <p:cNvSpPr txBox="true"/>
          <p:nvPr/>
        </p:nvSpPr>
        <p:spPr>
          <a:xfrm rot="0">
            <a:off x="446185" y="47060"/>
            <a:ext cx="13149026" cy="2244406"/>
          </a:xfrm>
          <a:prstGeom prst="rect">
            <a:avLst/>
          </a:prstGeom>
        </p:spPr>
        <p:txBody>
          <a:bodyPr anchor="t" rtlCol="false" tIns="0" lIns="0" bIns="0" rIns="0">
            <a:spAutoFit/>
          </a:bodyPr>
          <a:lstStyle/>
          <a:p>
            <a:pPr algn="l">
              <a:lnSpc>
                <a:spcPts val="18385"/>
              </a:lnSpc>
              <a:spcBef>
                <a:spcPct val="0"/>
              </a:spcBef>
            </a:pPr>
            <a:r>
              <a:rPr lang="en-US" sz="13132">
                <a:solidFill>
                  <a:srgbClr val="473F3F"/>
                </a:solidFill>
                <a:latin typeface="Bricolage Grotesque"/>
                <a:ea typeface="Bricolage Grotesque"/>
                <a:cs typeface="Bricolage Grotesque"/>
                <a:sym typeface="Bricolage Grotesque"/>
              </a:rPr>
              <a:t>PERFORM</a:t>
            </a:r>
            <a:r>
              <a:rPr lang="en-US" sz="13132">
                <a:solidFill>
                  <a:srgbClr val="473F3F"/>
                </a:solidFill>
                <a:latin typeface="Bricolage Grotesque"/>
                <a:ea typeface="Bricolage Grotesque"/>
                <a:cs typeface="Bricolage Grotesque"/>
                <a:sym typeface="Bricolage Grotesque"/>
              </a:rPr>
              <a:t>ANCE</a:t>
            </a:r>
          </a:p>
        </p:txBody>
      </p:sp>
      <p:sp>
        <p:nvSpPr>
          <p:cNvPr name="TextBox 5" id="5"/>
          <p:cNvSpPr txBox="true"/>
          <p:nvPr/>
        </p:nvSpPr>
        <p:spPr>
          <a:xfrm rot="0">
            <a:off x="896885" y="2043816"/>
            <a:ext cx="8566336" cy="2244406"/>
          </a:xfrm>
          <a:prstGeom prst="rect">
            <a:avLst/>
          </a:prstGeom>
        </p:spPr>
        <p:txBody>
          <a:bodyPr anchor="t" rtlCol="false" tIns="0" lIns="0" bIns="0" rIns="0">
            <a:spAutoFit/>
          </a:bodyPr>
          <a:lstStyle/>
          <a:p>
            <a:pPr algn="l">
              <a:lnSpc>
                <a:spcPts val="18385"/>
              </a:lnSpc>
              <a:spcBef>
                <a:spcPct val="0"/>
              </a:spcBef>
            </a:pPr>
            <a:r>
              <a:rPr lang="en-US" b="true" sz="13132">
                <a:solidFill>
                  <a:srgbClr val="639683"/>
                </a:solidFill>
                <a:latin typeface="Bricolage Grotesque Bold"/>
                <a:ea typeface="Bricolage Grotesque Bold"/>
                <a:cs typeface="Bricolage Grotesque Bold"/>
                <a:sym typeface="Bricolage Grotesque Bold"/>
              </a:rPr>
              <a:t>METR</a:t>
            </a:r>
            <a:r>
              <a:rPr lang="en-US" b="true" sz="13132">
                <a:solidFill>
                  <a:srgbClr val="639683"/>
                </a:solidFill>
                <a:latin typeface="Bricolage Grotesque Bold"/>
                <a:ea typeface="Bricolage Grotesque Bold"/>
                <a:cs typeface="Bricolage Grotesque Bold"/>
                <a:sym typeface="Bricolage Grotesque Bold"/>
              </a:rPr>
              <a:t>ICS</a:t>
            </a:r>
          </a:p>
        </p:txBody>
      </p:sp>
      <p:sp>
        <p:nvSpPr>
          <p:cNvPr name="TextBox 6" id="6"/>
          <p:cNvSpPr txBox="true"/>
          <p:nvPr/>
        </p:nvSpPr>
        <p:spPr>
          <a:xfrm rot="0">
            <a:off x="8885339" y="5277153"/>
            <a:ext cx="7982618" cy="4622165"/>
          </a:xfrm>
          <a:prstGeom prst="rect">
            <a:avLst/>
          </a:prstGeom>
        </p:spPr>
        <p:txBody>
          <a:bodyPr anchor="t" rtlCol="false" tIns="0" lIns="0" bIns="0" rIns="0">
            <a:spAutoFit/>
          </a:bodyPr>
          <a:lstStyle/>
          <a:p>
            <a:pPr algn="l" marL="626107" indent="-313054" lvl="1">
              <a:lnSpc>
                <a:spcPts val="4059"/>
              </a:lnSpc>
              <a:buFont typeface="Arial"/>
              <a:buChar char="•"/>
            </a:pPr>
            <a:r>
              <a:rPr lang="en-US" sz="2899">
                <a:solidFill>
                  <a:srgbClr val="473F3F"/>
                </a:solidFill>
                <a:latin typeface="Bricolage Grotesque"/>
                <a:ea typeface="Bricolage Grotesque"/>
                <a:cs typeface="Bricolage Grotesque"/>
                <a:sym typeface="Bricolage Grotesque"/>
              </a:rPr>
              <a:t>Sha</a:t>
            </a:r>
            <a:r>
              <a:rPr lang="en-US" sz="2899">
                <a:solidFill>
                  <a:srgbClr val="473F3F"/>
                </a:solidFill>
                <a:latin typeface="Bricolage Grotesque"/>
                <a:ea typeface="Bricolage Grotesque"/>
                <a:cs typeface="Bricolage Grotesque"/>
                <a:sym typeface="Bricolage Grotesque"/>
              </a:rPr>
              <a:t>ring: Web-based service to publish, share, and manage reports across teams safely.</a:t>
            </a:r>
          </a:p>
          <a:p>
            <a:pPr algn="l" marL="626107" indent="-313054" lvl="1">
              <a:lnSpc>
                <a:spcPts val="4059"/>
              </a:lnSpc>
              <a:buFont typeface="Arial"/>
              <a:buChar char="•"/>
            </a:pPr>
            <a:r>
              <a:rPr lang="en-US" sz="2899">
                <a:solidFill>
                  <a:srgbClr val="473F3F"/>
                </a:solidFill>
                <a:latin typeface="Bricolage Grotesque"/>
                <a:ea typeface="Bricolage Grotesque"/>
                <a:cs typeface="Bricolage Grotesque"/>
                <a:sym typeface="Bricolage Grotesque"/>
              </a:rPr>
              <a:t>Security: Access control and permissions depend on corporate account licenses.</a:t>
            </a:r>
          </a:p>
          <a:p>
            <a:pPr algn="l" marL="626107" indent="-313054" lvl="1">
              <a:lnSpc>
                <a:spcPts val="4059"/>
              </a:lnSpc>
              <a:buFont typeface="Arial"/>
              <a:buChar char="•"/>
            </a:pPr>
            <a:r>
              <a:rPr lang="en-US" sz="2899">
                <a:solidFill>
                  <a:srgbClr val="473F3F"/>
                </a:solidFill>
                <a:latin typeface="Bricolage Grotesque"/>
                <a:ea typeface="Bricolage Grotesque"/>
                <a:cs typeface="Bricolage Grotesque"/>
                <a:sym typeface="Bricolage Grotesque"/>
              </a:rPr>
              <a:t>Tracking: Helps business departments monitor sales figures, expenses, and KPIs in one centralized place.</a:t>
            </a:r>
          </a:p>
          <a:p>
            <a:pPr algn="l">
              <a:lnSpc>
                <a:spcPts val="4059"/>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DE59">
                <a:alpha val="100000"/>
              </a:srgbClr>
            </a:gs>
            <a:gs pos="100000">
              <a:srgbClr val="FF914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1678127">
            <a:off x="1063729" y="4237351"/>
            <a:ext cx="6508839" cy="4328378"/>
          </a:xfrm>
          <a:custGeom>
            <a:avLst/>
            <a:gdLst/>
            <a:ahLst/>
            <a:cxnLst/>
            <a:rect r="r" b="b" t="t" l="l"/>
            <a:pathLst>
              <a:path h="4328378" w="6508839">
                <a:moveTo>
                  <a:pt x="0" y="0"/>
                </a:moveTo>
                <a:lnTo>
                  <a:pt x="6508839" y="0"/>
                </a:lnTo>
                <a:lnTo>
                  <a:pt x="6508839" y="4328378"/>
                </a:lnTo>
                <a:lnTo>
                  <a:pt x="0" y="4328378"/>
                </a:lnTo>
                <a:lnTo>
                  <a:pt x="0" y="0"/>
                </a:lnTo>
                <a:close/>
              </a:path>
            </a:pathLst>
          </a:custGeom>
          <a:blipFill>
            <a:blip r:embed="rId2"/>
            <a:stretch>
              <a:fillRect l="0" t="0" r="0" b="0"/>
            </a:stretch>
          </a:blipFill>
        </p:spPr>
      </p:sp>
      <p:sp>
        <p:nvSpPr>
          <p:cNvPr name="TextBox 3" id="3"/>
          <p:cNvSpPr txBox="true"/>
          <p:nvPr/>
        </p:nvSpPr>
        <p:spPr>
          <a:xfrm rot="0">
            <a:off x="428851" y="50411"/>
            <a:ext cx="17496799" cy="1119923"/>
          </a:xfrm>
          <a:prstGeom prst="rect">
            <a:avLst/>
          </a:prstGeom>
        </p:spPr>
        <p:txBody>
          <a:bodyPr anchor="t" rtlCol="false" tIns="0" lIns="0" bIns="0" rIns="0">
            <a:spAutoFit/>
          </a:bodyPr>
          <a:lstStyle/>
          <a:p>
            <a:pPr algn="ctr">
              <a:lnSpc>
                <a:spcPts val="9146"/>
              </a:lnSpc>
              <a:spcBef>
                <a:spcPct val="0"/>
              </a:spcBef>
            </a:pPr>
            <a:r>
              <a:rPr lang="en-US" sz="6533" u="sng">
                <a:solidFill>
                  <a:srgbClr val="473F3F"/>
                </a:solidFill>
                <a:latin typeface="Bricolage Grotesque"/>
                <a:ea typeface="Bricolage Grotesque"/>
                <a:cs typeface="Bricolage Grotesque"/>
                <a:sym typeface="Bricolage Grotesque"/>
              </a:rPr>
              <a:t>STRUCTURED LEARNING ROADMAP</a:t>
            </a:r>
          </a:p>
        </p:txBody>
      </p:sp>
      <p:sp>
        <p:nvSpPr>
          <p:cNvPr name="TextBox 4" id="4"/>
          <p:cNvSpPr txBox="true"/>
          <p:nvPr/>
        </p:nvSpPr>
        <p:spPr>
          <a:xfrm rot="0">
            <a:off x="8025483" y="3326744"/>
            <a:ext cx="8120910" cy="4442340"/>
          </a:xfrm>
          <a:prstGeom prst="rect">
            <a:avLst/>
          </a:prstGeom>
        </p:spPr>
        <p:txBody>
          <a:bodyPr anchor="t" rtlCol="false" tIns="0" lIns="0" bIns="0" rIns="0">
            <a:spAutoFit/>
          </a:bodyPr>
          <a:lstStyle/>
          <a:p>
            <a:pPr algn="l" marL="544588" indent="-272294" lvl="1">
              <a:lnSpc>
                <a:spcPts val="3531"/>
              </a:lnSpc>
              <a:buFont typeface="Arial"/>
              <a:buChar char="•"/>
            </a:pPr>
            <a:r>
              <a:rPr lang="en-US" sz="2522">
                <a:solidFill>
                  <a:srgbClr val="473F3F"/>
                </a:solidFill>
                <a:latin typeface="Bricolage Grotesque"/>
                <a:ea typeface="Bricolage Grotesque"/>
                <a:cs typeface="Bricolage Grotesque"/>
                <a:sym typeface="Bricolage Grotesque"/>
              </a:rPr>
              <a:t>St</a:t>
            </a:r>
            <a:r>
              <a:rPr lang="en-US" sz="2522">
                <a:solidFill>
                  <a:srgbClr val="473F3F"/>
                </a:solidFill>
                <a:latin typeface="Bricolage Grotesque"/>
                <a:ea typeface="Bricolage Grotesque"/>
                <a:cs typeface="Bricolage Grotesque"/>
                <a:sym typeface="Bricolage Grotesque"/>
              </a:rPr>
              <a:t>ep 1: Learn structural data concepts (rows, columns, tables, data types).</a:t>
            </a:r>
          </a:p>
          <a:p>
            <a:pPr algn="l" marL="544588" indent="-272294" lvl="1">
              <a:lnSpc>
                <a:spcPts val="3531"/>
              </a:lnSpc>
              <a:buFont typeface="Arial"/>
              <a:buChar char="•"/>
            </a:pPr>
            <a:r>
              <a:rPr lang="en-US" sz="2522">
                <a:solidFill>
                  <a:srgbClr val="473F3F"/>
                </a:solidFill>
                <a:latin typeface="Bricolage Grotesque"/>
                <a:ea typeface="Bricolage Grotesque"/>
                <a:cs typeface="Bricolage Grotesque"/>
                <a:sym typeface="Bricolage Grotesque"/>
              </a:rPr>
              <a:t>Step 2: Practice importing basic CSV or Excel tables into the Desktop application.</a:t>
            </a:r>
          </a:p>
          <a:p>
            <a:pPr algn="l" marL="544588" indent="-272294" lvl="1">
              <a:lnSpc>
                <a:spcPts val="3531"/>
              </a:lnSpc>
              <a:buFont typeface="Arial"/>
              <a:buChar char="•"/>
            </a:pPr>
            <a:r>
              <a:rPr lang="en-US" sz="2522">
                <a:solidFill>
                  <a:srgbClr val="473F3F"/>
                </a:solidFill>
                <a:latin typeface="Bricolage Grotesque"/>
                <a:ea typeface="Bricolage Grotesque"/>
                <a:cs typeface="Bricolage Grotesque"/>
                <a:sym typeface="Bricolage Grotesque"/>
              </a:rPr>
              <a:t>Step 3: Master dashboard building first, then proceed to deep DAX mathematical models.</a:t>
            </a:r>
          </a:p>
          <a:p>
            <a:pPr algn="l">
              <a:lnSpc>
                <a:spcPts val="3531"/>
              </a:lnSpc>
            </a:pPr>
          </a:p>
          <a:p>
            <a:pPr algn="l">
              <a:lnSpc>
                <a:spcPts val="3531"/>
              </a:lnSpc>
            </a:pPr>
          </a:p>
          <a:p>
            <a:pPr algn="l">
              <a:lnSpc>
                <a:spcPts val="3531"/>
              </a:lnSpc>
            </a:pPr>
          </a:p>
          <a:p>
            <a:pPr algn="l">
              <a:lnSpc>
                <a:spcPts val="3531"/>
              </a:lnSpc>
              <a:spcBef>
                <a:spcPct val="0"/>
              </a:spcBef>
            </a:pPr>
          </a:p>
        </p:txBody>
      </p:sp>
      <p:sp>
        <p:nvSpPr>
          <p:cNvPr name="TextBox 5" id="5"/>
          <p:cNvSpPr txBox="true"/>
          <p:nvPr/>
        </p:nvSpPr>
        <p:spPr>
          <a:xfrm rot="0">
            <a:off x="3209564" y="1935555"/>
            <a:ext cx="11106150" cy="813217"/>
          </a:xfrm>
          <a:prstGeom prst="rect">
            <a:avLst/>
          </a:prstGeom>
        </p:spPr>
        <p:txBody>
          <a:bodyPr anchor="t" rtlCol="false" tIns="0" lIns="0" bIns="0" rIns="0">
            <a:spAutoFit/>
          </a:bodyPr>
          <a:lstStyle/>
          <a:p>
            <a:pPr algn="ctr">
              <a:lnSpc>
                <a:spcPts val="6627"/>
              </a:lnSpc>
              <a:spcBef>
                <a:spcPct val="0"/>
              </a:spcBef>
            </a:pPr>
            <a:r>
              <a:rPr lang="en-US" sz="4733" u="sng">
                <a:solidFill>
                  <a:srgbClr val="473F3F"/>
                </a:solidFill>
                <a:latin typeface="Bricolage Grotesque"/>
                <a:ea typeface="Bricolage Grotesque"/>
                <a:cs typeface="Bricolage Grotesque"/>
                <a:sym typeface="Bricolage Grotesque"/>
              </a:rPr>
              <a:t>H</a:t>
            </a:r>
            <a:r>
              <a:rPr lang="en-US" sz="4733" u="sng">
                <a:solidFill>
                  <a:srgbClr val="473F3F"/>
                </a:solidFill>
                <a:latin typeface="Bricolage Grotesque"/>
                <a:ea typeface="Bricolage Grotesque"/>
                <a:cs typeface="Bricolage Grotesque"/>
                <a:sym typeface="Bricolage Grotesque"/>
              </a:rPr>
              <a:t>OW TO MASTER THE TOOL CORRECTLY.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DE59">
                <a:alpha val="100000"/>
              </a:srgbClr>
            </a:gs>
            <a:gs pos="100000">
              <a:srgbClr val="FF914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763463">
            <a:off x="4250043" y="5063144"/>
            <a:ext cx="7002778" cy="4346507"/>
          </a:xfrm>
          <a:custGeom>
            <a:avLst/>
            <a:gdLst/>
            <a:ahLst/>
            <a:cxnLst/>
            <a:rect r="r" b="b" t="t" l="l"/>
            <a:pathLst>
              <a:path h="4346507" w="7002778">
                <a:moveTo>
                  <a:pt x="0" y="0"/>
                </a:moveTo>
                <a:lnTo>
                  <a:pt x="7002778" y="0"/>
                </a:lnTo>
                <a:lnTo>
                  <a:pt x="7002778" y="4346507"/>
                </a:lnTo>
                <a:lnTo>
                  <a:pt x="0" y="4346507"/>
                </a:lnTo>
                <a:lnTo>
                  <a:pt x="0" y="0"/>
                </a:lnTo>
                <a:close/>
              </a:path>
            </a:pathLst>
          </a:custGeom>
          <a:blipFill>
            <a:blip r:embed="rId2"/>
            <a:stretch>
              <a:fillRect l="0" t="-4282" r="-1329" b="-4282"/>
            </a:stretch>
          </a:blipFill>
        </p:spPr>
      </p:sp>
      <p:sp>
        <p:nvSpPr>
          <p:cNvPr name="TextBox 3" id="3"/>
          <p:cNvSpPr txBox="true"/>
          <p:nvPr/>
        </p:nvSpPr>
        <p:spPr>
          <a:xfrm rot="0">
            <a:off x="3112941" y="43542"/>
            <a:ext cx="12925767" cy="1401962"/>
          </a:xfrm>
          <a:prstGeom prst="rect">
            <a:avLst/>
          </a:prstGeom>
        </p:spPr>
        <p:txBody>
          <a:bodyPr anchor="t" rtlCol="false" tIns="0" lIns="0" bIns="0" rIns="0">
            <a:spAutoFit/>
          </a:bodyPr>
          <a:lstStyle/>
          <a:p>
            <a:pPr algn="ctr">
              <a:lnSpc>
                <a:spcPts val="11439"/>
              </a:lnSpc>
              <a:spcBef>
                <a:spcPct val="0"/>
              </a:spcBef>
            </a:pPr>
            <a:r>
              <a:rPr lang="en-US" sz="8170">
                <a:solidFill>
                  <a:srgbClr val="473F3F"/>
                </a:solidFill>
                <a:latin typeface="Bricolage Grotesque"/>
                <a:ea typeface="Bricolage Grotesque"/>
                <a:cs typeface="Bricolage Grotesque"/>
                <a:sym typeface="Bricolage Grotesque"/>
              </a:rPr>
              <a:t>CAREER DEVELOPMENT</a:t>
            </a:r>
          </a:p>
        </p:txBody>
      </p:sp>
      <p:sp>
        <p:nvSpPr>
          <p:cNvPr name="TextBox 4" id="4"/>
          <p:cNvSpPr txBox="true"/>
          <p:nvPr/>
        </p:nvSpPr>
        <p:spPr>
          <a:xfrm rot="0">
            <a:off x="976224" y="2514414"/>
            <a:ext cx="16616571" cy="4022037"/>
          </a:xfrm>
          <a:prstGeom prst="rect">
            <a:avLst/>
          </a:prstGeom>
        </p:spPr>
        <p:txBody>
          <a:bodyPr anchor="t" rtlCol="false" tIns="0" lIns="0" bIns="0" rIns="0">
            <a:spAutoFit/>
          </a:bodyPr>
          <a:lstStyle/>
          <a:p>
            <a:pPr algn="l" marL="545598" indent="-272799" lvl="1">
              <a:lnSpc>
                <a:spcPts val="3537"/>
              </a:lnSpc>
              <a:buFont typeface="Arial"/>
              <a:buChar char="•"/>
            </a:pPr>
            <a:r>
              <a:rPr lang="en-US" b="true" sz="2527">
                <a:solidFill>
                  <a:srgbClr val="000000"/>
                </a:solidFill>
                <a:latin typeface="Bricolage Grotesque Bold"/>
                <a:ea typeface="Bricolage Grotesque Bold"/>
                <a:cs typeface="Bricolage Grotesque Bold"/>
                <a:sym typeface="Bricolage Grotesque Bold"/>
              </a:rPr>
              <a:t>TARGET AUDIENCE: HIGHLY ESSENTIAL SKILL FOR STUDENTS, FRESHERS, AND CORPORATE PROFESSIONALS.</a:t>
            </a:r>
          </a:p>
          <a:p>
            <a:pPr algn="l" marL="545598" indent="-272799" lvl="1">
              <a:lnSpc>
                <a:spcPts val="3537"/>
              </a:lnSpc>
              <a:buFont typeface="Arial"/>
              <a:buChar char="•"/>
            </a:pPr>
            <a:r>
              <a:rPr lang="en-US" b="true" sz="2527">
                <a:solidFill>
                  <a:srgbClr val="000000"/>
                </a:solidFill>
                <a:latin typeface="Bricolage Grotesque Bold"/>
                <a:ea typeface="Bricolage Grotesque Bold"/>
                <a:cs typeface="Bricolage Grotesque Bold"/>
                <a:sym typeface="Bricolage Grotesque Bold"/>
              </a:rPr>
              <a:t>JOB READINESS: COMBINE POWER BI WITH SQL, ADVANCED EXCEL, AND PRACTICAL DOMAIN PROJECTS.</a:t>
            </a:r>
          </a:p>
          <a:p>
            <a:pPr algn="l" marL="545598" indent="-272799" lvl="1">
              <a:lnSpc>
                <a:spcPts val="3537"/>
              </a:lnSpc>
              <a:buFont typeface="Arial"/>
              <a:buChar char="•"/>
            </a:pPr>
            <a:r>
              <a:rPr lang="en-US" b="true" sz="2527">
                <a:solidFill>
                  <a:srgbClr val="000000"/>
                </a:solidFill>
                <a:latin typeface="Bricolage Grotesque Bold"/>
                <a:ea typeface="Bricolage Grotesque Bold"/>
                <a:cs typeface="Bricolage Grotesque Bold"/>
                <a:sym typeface="Bricolage Grotesque Bold"/>
              </a:rPr>
              <a:t>ROLES AVAILABLE: OPENS OPPORTUNITIES FOR DATA ANALYSTS, REPORTING ANALYSTS, AND BI EXPERTS.</a:t>
            </a:r>
          </a:p>
          <a:p>
            <a:pPr algn="l">
              <a:lnSpc>
                <a:spcPts val="3537"/>
              </a:lnSpc>
            </a:pPr>
          </a:p>
          <a:p>
            <a:pPr algn="l">
              <a:lnSpc>
                <a:spcPts val="3537"/>
              </a:lnSpc>
            </a:pPr>
          </a:p>
          <a:p>
            <a:pPr algn="l">
              <a:lnSpc>
                <a:spcPts val="3537"/>
              </a:lnSpc>
            </a:pPr>
          </a:p>
          <a:p>
            <a:pPr algn="l">
              <a:lnSpc>
                <a:spcPts val="3537"/>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DE59">
                <a:alpha val="100000"/>
              </a:srgbClr>
            </a:gs>
            <a:gs pos="100000">
              <a:srgbClr val="FF914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6085985" y="2080693"/>
            <a:ext cx="10623981" cy="7383667"/>
          </a:xfrm>
          <a:custGeom>
            <a:avLst/>
            <a:gdLst/>
            <a:ahLst/>
            <a:cxnLst/>
            <a:rect r="r" b="b" t="t" l="l"/>
            <a:pathLst>
              <a:path h="7383667" w="10623981">
                <a:moveTo>
                  <a:pt x="0" y="0"/>
                </a:moveTo>
                <a:lnTo>
                  <a:pt x="10623981" y="0"/>
                </a:lnTo>
                <a:lnTo>
                  <a:pt x="10623981" y="7383667"/>
                </a:lnTo>
                <a:lnTo>
                  <a:pt x="0" y="73836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00073" y="4023965"/>
            <a:ext cx="4095750" cy="6240145"/>
          </a:xfrm>
          <a:prstGeom prst="rect">
            <a:avLst/>
          </a:prstGeom>
        </p:spPr>
        <p:txBody>
          <a:bodyPr anchor="t" rtlCol="false" tIns="0" lIns="0" bIns="0" rIns="0">
            <a:spAutoFit/>
          </a:bodyPr>
          <a:lstStyle/>
          <a:p>
            <a:pPr algn="l" marL="474981" indent="-237491" lvl="1">
              <a:lnSpc>
                <a:spcPts val="3080"/>
              </a:lnSpc>
              <a:buFont typeface="Arial"/>
              <a:buChar char="•"/>
            </a:pPr>
            <a:r>
              <a:rPr lang="en-US" sz="2200">
                <a:solidFill>
                  <a:srgbClr val="473F3F"/>
                </a:solidFill>
                <a:latin typeface="Bricolage Grotesque"/>
                <a:ea typeface="Bricolage Grotesque"/>
                <a:cs typeface="Bricolage Grotesque"/>
                <a:sym typeface="Bricolage Grotesque"/>
              </a:rPr>
              <a:t>Sal</a:t>
            </a:r>
            <a:r>
              <a:rPr lang="en-US" sz="2200">
                <a:solidFill>
                  <a:srgbClr val="473F3F"/>
                </a:solidFill>
                <a:latin typeface="Bricolage Grotesque"/>
                <a:ea typeface="Bricolage Grotesque"/>
                <a:cs typeface="Bricolage Grotesque"/>
                <a:sym typeface="Bricolage Grotesque"/>
              </a:rPr>
              <a:t>es Dashboard: Analyze overall revenue, profit metrics, and product category distributions.</a:t>
            </a:r>
          </a:p>
          <a:p>
            <a:pPr algn="l" marL="474981" indent="-237491" lvl="1">
              <a:lnSpc>
                <a:spcPts val="3080"/>
              </a:lnSpc>
              <a:buFont typeface="Arial"/>
              <a:buChar char="•"/>
            </a:pPr>
            <a:r>
              <a:rPr lang="en-US" sz="2200">
                <a:solidFill>
                  <a:srgbClr val="473F3F"/>
                </a:solidFill>
                <a:latin typeface="Bricolage Grotesque"/>
                <a:ea typeface="Bricolage Grotesque"/>
                <a:cs typeface="Bricolage Grotesque"/>
                <a:sym typeface="Bricolage Grotesque"/>
              </a:rPr>
              <a:t>Customer Analysis: Track segment shifts, customer buying behavior, and repeat business rates.</a:t>
            </a:r>
          </a:p>
          <a:p>
            <a:pPr algn="l" marL="474981" indent="-237491" lvl="1">
              <a:lnSpc>
                <a:spcPts val="3080"/>
              </a:lnSpc>
              <a:buFont typeface="Arial"/>
              <a:buChar char="•"/>
            </a:pPr>
            <a:r>
              <a:rPr lang="en-US" sz="2200">
                <a:solidFill>
                  <a:srgbClr val="473F3F"/>
                </a:solidFill>
                <a:latin typeface="Bricolage Grotesque"/>
                <a:ea typeface="Bricolage Grotesque"/>
                <a:cs typeface="Bricolage Grotesque"/>
                <a:sym typeface="Bricolage Grotesque"/>
              </a:rPr>
              <a:t>E-commerce Tracking: Monitor order values, popular item categories, and user locations.</a:t>
            </a:r>
          </a:p>
          <a:p>
            <a:pPr algn="l">
              <a:lnSpc>
                <a:spcPts val="3080"/>
              </a:lnSpc>
            </a:pPr>
          </a:p>
          <a:p>
            <a:pPr algn="l">
              <a:lnSpc>
                <a:spcPts val="3080"/>
              </a:lnSpc>
            </a:pPr>
          </a:p>
          <a:p>
            <a:pPr algn="l">
              <a:lnSpc>
                <a:spcPts val="3080"/>
              </a:lnSpc>
            </a:pPr>
          </a:p>
          <a:p>
            <a:pPr algn="l">
              <a:lnSpc>
                <a:spcPts val="3080"/>
              </a:lnSpc>
              <a:spcBef>
                <a:spcPct val="0"/>
              </a:spcBef>
            </a:pPr>
          </a:p>
        </p:txBody>
      </p:sp>
      <p:sp>
        <p:nvSpPr>
          <p:cNvPr name="TextBox 4" id="4"/>
          <p:cNvSpPr txBox="true"/>
          <p:nvPr/>
        </p:nvSpPr>
        <p:spPr>
          <a:xfrm rot="0">
            <a:off x="535298" y="2651466"/>
            <a:ext cx="4045137" cy="860425"/>
          </a:xfrm>
          <a:prstGeom prst="rect">
            <a:avLst/>
          </a:prstGeom>
        </p:spPr>
        <p:txBody>
          <a:bodyPr anchor="t" rtlCol="false" tIns="0" lIns="0" bIns="0" rIns="0">
            <a:spAutoFit/>
          </a:bodyPr>
          <a:lstStyle/>
          <a:p>
            <a:pPr algn="l">
              <a:lnSpc>
                <a:spcPts val="3499"/>
              </a:lnSpc>
              <a:spcBef>
                <a:spcPct val="0"/>
              </a:spcBef>
            </a:pPr>
            <a:r>
              <a:rPr lang="en-US" b="true" sz="2499">
                <a:solidFill>
                  <a:srgbClr val="639683"/>
                </a:solidFill>
                <a:latin typeface="Bricolage Grotesque Bold"/>
                <a:ea typeface="Bricolage Grotesque Bold"/>
                <a:cs typeface="Bricolage Grotesque Bold"/>
                <a:sym typeface="Bricolage Grotesque Bold"/>
              </a:rPr>
              <a:t>SHOWCASE REAL-WORLD SKILLS</a:t>
            </a:r>
          </a:p>
        </p:txBody>
      </p:sp>
      <p:sp>
        <p:nvSpPr>
          <p:cNvPr name="TextBox 5" id="5"/>
          <p:cNvSpPr txBox="true"/>
          <p:nvPr/>
        </p:nvSpPr>
        <p:spPr>
          <a:xfrm rot="0">
            <a:off x="2132719" y="384837"/>
            <a:ext cx="15228543" cy="2069467"/>
          </a:xfrm>
          <a:prstGeom prst="rect">
            <a:avLst/>
          </a:prstGeom>
        </p:spPr>
        <p:txBody>
          <a:bodyPr anchor="t" rtlCol="false" tIns="0" lIns="0" bIns="0" rIns="0">
            <a:spAutoFit/>
          </a:bodyPr>
          <a:lstStyle/>
          <a:p>
            <a:pPr algn="ctr">
              <a:lnSpc>
                <a:spcPts val="8259"/>
              </a:lnSpc>
              <a:spcBef>
                <a:spcPct val="0"/>
              </a:spcBef>
            </a:pPr>
            <a:r>
              <a:rPr lang="en-US" b="true" sz="5899">
                <a:solidFill>
                  <a:srgbClr val="000000"/>
                </a:solidFill>
                <a:latin typeface="Bricolage Grotesque Bold"/>
                <a:ea typeface="Bricolage Grotesque Bold"/>
                <a:cs typeface="Bricolage Grotesque Bold"/>
                <a:sym typeface="Bricolage Grotesque Bold"/>
              </a:rPr>
              <a:t>PRACTICAL BUSINESS DASHBOARD </a:t>
            </a:r>
          </a:p>
          <a:p>
            <a:pPr algn="ctr">
              <a:lnSpc>
                <a:spcPts val="8259"/>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DE59">
                <a:alpha val="100000"/>
              </a:srgbClr>
            </a:gs>
            <a:gs pos="100000">
              <a:srgbClr val="FF914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730220" y="1635411"/>
            <a:ext cx="10795120" cy="8229600"/>
          </a:xfrm>
          <a:custGeom>
            <a:avLst/>
            <a:gdLst/>
            <a:ahLst/>
            <a:cxnLst/>
            <a:rect r="r" b="b" t="t" l="l"/>
            <a:pathLst>
              <a:path h="8229600" w="10795120">
                <a:moveTo>
                  <a:pt x="0" y="0"/>
                </a:moveTo>
                <a:lnTo>
                  <a:pt x="10795120" y="0"/>
                </a:lnTo>
                <a:lnTo>
                  <a:pt x="10795120" y="8229600"/>
                </a:lnTo>
                <a:lnTo>
                  <a:pt x="0" y="8229600"/>
                </a:lnTo>
                <a:lnTo>
                  <a:pt x="0" y="0"/>
                </a:lnTo>
                <a:close/>
              </a:path>
            </a:pathLst>
          </a:custGeom>
          <a:blipFill>
            <a:blip r:embed="rId2"/>
            <a:stretch>
              <a:fillRect l="0" t="-15587" r="0" b="-15587"/>
            </a:stretch>
          </a:blipFill>
        </p:spPr>
      </p:sp>
      <p:sp>
        <p:nvSpPr>
          <p:cNvPr name="TextBox 3" id="3"/>
          <p:cNvSpPr txBox="true"/>
          <p:nvPr/>
        </p:nvSpPr>
        <p:spPr>
          <a:xfrm rot="0">
            <a:off x="2029366" y="210793"/>
            <a:ext cx="15357009" cy="1119923"/>
          </a:xfrm>
          <a:prstGeom prst="rect">
            <a:avLst/>
          </a:prstGeom>
        </p:spPr>
        <p:txBody>
          <a:bodyPr anchor="t" rtlCol="false" tIns="0" lIns="0" bIns="0" rIns="0">
            <a:spAutoFit/>
          </a:bodyPr>
          <a:lstStyle/>
          <a:p>
            <a:pPr algn="ctr">
              <a:lnSpc>
                <a:spcPts val="9146"/>
              </a:lnSpc>
              <a:spcBef>
                <a:spcPct val="0"/>
              </a:spcBef>
            </a:pPr>
            <a:r>
              <a:rPr lang="en-US" sz="6533">
                <a:solidFill>
                  <a:srgbClr val="473F3F"/>
                </a:solidFill>
                <a:latin typeface="Bricolage Grotesque"/>
                <a:ea typeface="Bricolage Grotesque"/>
                <a:cs typeface="Bricolage Grotesque"/>
                <a:sym typeface="Bricolage Grotesque"/>
              </a:rPr>
              <a:t>CORPORATE HR ANALYTICS</a:t>
            </a:r>
          </a:p>
        </p:txBody>
      </p:sp>
      <p:sp>
        <p:nvSpPr>
          <p:cNvPr name="TextBox 4" id="4"/>
          <p:cNvSpPr txBox="true"/>
          <p:nvPr/>
        </p:nvSpPr>
        <p:spPr>
          <a:xfrm rot="0">
            <a:off x="12477225" y="4124900"/>
            <a:ext cx="5600861" cy="5582464"/>
          </a:xfrm>
          <a:prstGeom prst="rect">
            <a:avLst/>
          </a:prstGeom>
        </p:spPr>
        <p:txBody>
          <a:bodyPr anchor="t" rtlCol="false" tIns="0" lIns="0" bIns="0" rIns="0">
            <a:spAutoFit/>
          </a:bodyPr>
          <a:lstStyle/>
          <a:p>
            <a:pPr algn="l" marL="531435" indent="-265717" lvl="1">
              <a:lnSpc>
                <a:spcPts val="3446"/>
              </a:lnSpc>
              <a:buFont typeface="Arial"/>
              <a:buChar char="•"/>
            </a:pPr>
            <a:r>
              <a:rPr lang="en-US" sz="2461">
                <a:solidFill>
                  <a:srgbClr val="473F3F"/>
                </a:solidFill>
                <a:latin typeface="Bricolage Grotesque"/>
                <a:ea typeface="Bricolage Grotesque"/>
                <a:cs typeface="Bricolage Grotesque"/>
                <a:sym typeface="Bricolage Grotesque"/>
              </a:rPr>
              <a:t>Met</a:t>
            </a:r>
            <a:r>
              <a:rPr lang="en-US" sz="2461">
                <a:solidFill>
                  <a:srgbClr val="473F3F"/>
                </a:solidFill>
                <a:latin typeface="Bricolage Grotesque"/>
                <a:ea typeface="Bricolage Grotesque"/>
                <a:cs typeface="Bricolage Grotesque"/>
                <a:sym typeface="Bricolage Grotesque"/>
              </a:rPr>
              <a:t>rics: Track total employee headcount, hiring trends, and team distributions.</a:t>
            </a:r>
          </a:p>
          <a:p>
            <a:pPr algn="l" marL="531435" indent="-265717" lvl="1">
              <a:lnSpc>
                <a:spcPts val="3446"/>
              </a:lnSpc>
              <a:buFont typeface="Arial"/>
              <a:buChar char="•"/>
            </a:pPr>
            <a:r>
              <a:rPr lang="en-US" sz="2461">
                <a:solidFill>
                  <a:srgbClr val="473F3F"/>
                </a:solidFill>
                <a:latin typeface="Bricolage Grotesque"/>
                <a:ea typeface="Bricolage Grotesque"/>
                <a:cs typeface="Bricolage Grotesque"/>
                <a:sym typeface="Bricolage Grotesque"/>
              </a:rPr>
              <a:t>Attrition Track: Analyze staff retention issues and department-wise turnover rates.</a:t>
            </a:r>
          </a:p>
          <a:p>
            <a:pPr algn="l" marL="531435" indent="-265717" lvl="1">
              <a:lnSpc>
                <a:spcPts val="3446"/>
              </a:lnSpc>
              <a:buFont typeface="Arial"/>
              <a:buChar char="•"/>
            </a:pPr>
            <a:r>
              <a:rPr lang="en-US" sz="2461">
                <a:solidFill>
                  <a:srgbClr val="473F3F"/>
                </a:solidFill>
                <a:latin typeface="Bricolage Grotesque"/>
                <a:ea typeface="Bricolage Grotesque"/>
                <a:cs typeface="Bricolage Grotesque"/>
                <a:sym typeface="Bricolage Grotesque"/>
              </a:rPr>
              <a:t>Presentation Rule: State the business question clearly before showcasing data results.</a:t>
            </a:r>
          </a:p>
          <a:p>
            <a:pPr algn="l">
              <a:lnSpc>
                <a:spcPts val="3446"/>
              </a:lnSpc>
            </a:pPr>
          </a:p>
          <a:p>
            <a:pPr algn="l">
              <a:lnSpc>
                <a:spcPts val="3446"/>
              </a:lnSpc>
            </a:pPr>
          </a:p>
          <a:p>
            <a:pPr algn="l">
              <a:lnSpc>
                <a:spcPts val="3446"/>
              </a:lnSpc>
            </a:pPr>
          </a:p>
          <a:p>
            <a:pPr algn="l">
              <a:lnSpc>
                <a:spcPts val="3446"/>
              </a:lnSpc>
              <a:spcBef>
                <a:spcPct val="0"/>
              </a:spcBef>
            </a:pPr>
          </a:p>
        </p:txBody>
      </p:sp>
      <p:sp>
        <p:nvSpPr>
          <p:cNvPr name="TextBox 5" id="5"/>
          <p:cNvSpPr txBox="true"/>
          <p:nvPr/>
        </p:nvSpPr>
        <p:spPr>
          <a:xfrm rot="0">
            <a:off x="12184283" y="2856471"/>
            <a:ext cx="5075017" cy="995813"/>
          </a:xfrm>
          <a:prstGeom prst="rect">
            <a:avLst/>
          </a:prstGeom>
        </p:spPr>
        <p:txBody>
          <a:bodyPr anchor="t" rtlCol="false" tIns="0" lIns="0" bIns="0" rIns="0">
            <a:spAutoFit/>
          </a:bodyPr>
          <a:lstStyle/>
          <a:p>
            <a:pPr algn="l">
              <a:lnSpc>
                <a:spcPts val="4000"/>
              </a:lnSpc>
              <a:spcBef>
                <a:spcPct val="0"/>
              </a:spcBef>
            </a:pPr>
            <a:r>
              <a:rPr lang="en-US" b="true" sz="2857">
                <a:solidFill>
                  <a:srgbClr val="639683"/>
                </a:solidFill>
                <a:latin typeface="Bricolage Grotesque Bold"/>
                <a:ea typeface="Bricolage Grotesque Bold"/>
                <a:cs typeface="Bricolage Grotesque Bold"/>
                <a:sym typeface="Bricolage Grotesque Bold"/>
              </a:rPr>
              <a:t>MANAGING WORKPLACE DYNAMICS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DE59">
                <a:alpha val="100000"/>
              </a:srgbClr>
            </a:gs>
            <a:gs pos="100000">
              <a:srgbClr val="FF914D">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0" y="4047745"/>
            <a:ext cx="18288000" cy="6782739"/>
            <a:chOff x="0" y="0"/>
            <a:chExt cx="4816593" cy="1786400"/>
          </a:xfrm>
        </p:grpSpPr>
        <p:sp>
          <p:nvSpPr>
            <p:cNvPr name="Freeform 3" id="3"/>
            <p:cNvSpPr/>
            <p:nvPr/>
          </p:nvSpPr>
          <p:spPr>
            <a:xfrm flipH="false" flipV="false" rot="0">
              <a:off x="0" y="0"/>
              <a:ext cx="4816592" cy="1786400"/>
            </a:xfrm>
            <a:custGeom>
              <a:avLst/>
              <a:gdLst/>
              <a:ahLst/>
              <a:cxnLst/>
              <a:rect r="r" b="b" t="t" l="l"/>
              <a:pathLst>
                <a:path h="1786400" w="4816592">
                  <a:moveTo>
                    <a:pt x="36830" y="0"/>
                  </a:moveTo>
                  <a:lnTo>
                    <a:pt x="4779763" y="0"/>
                  </a:lnTo>
                  <a:cubicBezTo>
                    <a:pt x="4789531" y="0"/>
                    <a:pt x="4798898" y="3880"/>
                    <a:pt x="4805805" y="10787"/>
                  </a:cubicBezTo>
                  <a:cubicBezTo>
                    <a:pt x="4812712" y="17694"/>
                    <a:pt x="4816592" y="27062"/>
                    <a:pt x="4816592" y="36830"/>
                  </a:cubicBezTo>
                  <a:lnTo>
                    <a:pt x="4816592" y="1749570"/>
                  </a:lnTo>
                  <a:cubicBezTo>
                    <a:pt x="4816592" y="1769911"/>
                    <a:pt x="4800103" y="1786400"/>
                    <a:pt x="4779763" y="1786400"/>
                  </a:cubicBezTo>
                  <a:lnTo>
                    <a:pt x="36830" y="1786400"/>
                  </a:lnTo>
                  <a:cubicBezTo>
                    <a:pt x="16489" y="1786400"/>
                    <a:pt x="0" y="1769911"/>
                    <a:pt x="0" y="1749570"/>
                  </a:cubicBezTo>
                  <a:lnTo>
                    <a:pt x="0" y="36830"/>
                  </a:lnTo>
                  <a:cubicBezTo>
                    <a:pt x="0" y="16489"/>
                    <a:pt x="16489" y="0"/>
                    <a:pt x="36830" y="0"/>
                  </a:cubicBezTo>
                  <a:close/>
                </a:path>
              </a:pathLst>
            </a:custGeom>
            <a:gradFill rotWithShape="true">
              <a:gsLst>
                <a:gs pos="0">
                  <a:srgbClr val="FFDE59">
                    <a:alpha val="100000"/>
                  </a:srgbClr>
                </a:gs>
                <a:gs pos="100000">
                  <a:srgbClr val="FF914D">
                    <a:alpha val="100000"/>
                  </a:srgbClr>
                </a:gs>
              </a:gsLst>
              <a:lin ang="0"/>
            </a:gradFill>
          </p:spPr>
        </p:sp>
        <p:sp>
          <p:nvSpPr>
            <p:cNvPr name="TextBox 4" id="4"/>
            <p:cNvSpPr txBox="true"/>
            <p:nvPr/>
          </p:nvSpPr>
          <p:spPr>
            <a:xfrm>
              <a:off x="0" y="-38100"/>
              <a:ext cx="4816593" cy="1824500"/>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2614152" y="6229454"/>
            <a:ext cx="8077061" cy="3049840"/>
          </a:xfrm>
          <a:prstGeom prst="rect">
            <a:avLst/>
          </a:prstGeom>
        </p:spPr>
        <p:txBody>
          <a:bodyPr anchor="t" rtlCol="false" tIns="0" lIns="0" bIns="0" rIns="0">
            <a:spAutoFit/>
          </a:bodyPr>
          <a:lstStyle/>
          <a:p>
            <a:pPr algn="l">
              <a:lnSpc>
                <a:spcPts val="24836"/>
              </a:lnSpc>
              <a:spcBef>
                <a:spcPct val="0"/>
              </a:spcBef>
            </a:pPr>
            <a:r>
              <a:rPr lang="en-US" sz="17740">
                <a:solidFill>
                  <a:srgbClr val="F7F5F6"/>
                </a:solidFill>
                <a:latin typeface="Bricolage Grotesque"/>
                <a:ea typeface="Bricolage Grotesque"/>
                <a:cs typeface="Bricolage Grotesque"/>
                <a:sym typeface="Bricolage Grotesque"/>
              </a:rPr>
              <a:t>THANK</a:t>
            </a:r>
          </a:p>
        </p:txBody>
      </p:sp>
      <p:sp>
        <p:nvSpPr>
          <p:cNvPr name="TextBox 6" id="6"/>
          <p:cNvSpPr txBox="true"/>
          <p:nvPr/>
        </p:nvSpPr>
        <p:spPr>
          <a:xfrm rot="0">
            <a:off x="10691213" y="6229454"/>
            <a:ext cx="6015639" cy="3049840"/>
          </a:xfrm>
          <a:prstGeom prst="rect">
            <a:avLst/>
          </a:prstGeom>
        </p:spPr>
        <p:txBody>
          <a:bodyPr anchor="t" rtlCol="false" tIns="0" lIns="0" bIns="0" rIns="0">
            <a:spAutoFit/>
          </a:bodyPr>
          <a:lstStyle/>
          <a:p>
            <a:pPr algn="l">
              <a:lnSpc>
                <a:spcPts val="24836"/>
              </a:lnSpc>
              <a:spcBef>
                <a:spcPct val="0"/>
              </a:spcBef>
            </a:pPr>
            <a:r>
              <a:rPr lang="en-US" b="true" sz="17740">
                <a:solidFill>
                  <a:srgbClr val="F7F5F6"/>
                </a:solidFill>
                <a:latin typeface="Bricolage Grotesque Bold"/>
                <a:ea typeface="Bricolage Grotesque Bold"/>
                <a:cs typeface="Bricolage Grotesque Bold"/>
                <a:sym typeface="Bricolage Grotesque Bold"/>
              </a:rPr>
              <a:t>YOU</a:t>
            </a:r>
          </a:p>
        </p:txBody>
      </p:sp>
      <p:grpSp>
        <p:nvGrpSpPr>
          <p:cNvPr name="Group 7" id="7"/>
          <p:cNvGrpSpPr/>
          <p:nvPr/>
        </p:nvGrpSpPr>
        <p:grpSpPr>
          <a:xfrm rot="0">
            <a:off x="1028700" y="413557"/>
            <a:ext cx="16230600" cy="6027405"/>
            <a:chOff x="0" y="0"/>
            <a:chExt cx="2514545" cy="933803"/>
          </a:xfrm>
        </p:grpSpPr>
        <p:sp>
          <p:nvSpPr>
            <p:cNvPr name="Freeform 8" id="8"/>
            <p:cNvSpPr/>
            <p:nvPr/>
          </p:nvSpPr>
          <p:spPr>
            <a:xfrm flipH="false" flipV="false" rot="0">
              <a:off x="0" y="0"/>
              <a:ext cx="2514545" cy="933803"/>
            </a:xfrm>
            <a:custGeom>
              <a:avLst/>
              <a:gdLst/>
              <a:ahLst/>
              <a:cxnLst/>
              <a:rect r="r" b="b" t="t" l="l"/>
              <a:pathLst>
                <a:path h="933803" w="2514545">
                  <a:moveTo>
                    <a:pt x="25281" y="0"/>
                  </a:moveTo>
                  <a:lnTo>
                    <a:pt x="2489264" y="0"/>
                  </a:lnTo>
                  <a:cubicBezTo>
                    <a:pt x="2495969" y="0"/>
                    <a:pt x="2502399" y="2664"/>
                    <a:pt x="2507140" y="7405"/>
                  </a:cubicBezTo>
                  <a:cubicBezTo>
                    <a:pt x="2511881" y="12146"/>
                    <a:pt x="2514545" y="18576"/>
                    <a:pt x="2514545" y="25281"/>
                  </a:cubicBezTo>
                  <a:lnTo>
                    <a:pt x="2514545" y="908522"/>
                  </a:lnTo>
                  <a:cubicBezTo>
                    <a:pt x="2514545" y="922484"/>
                    <a:pt x="2503226" y="933803"/>
                    <a:pt x="2489264" y="933803"/>
                  </a:cubicBezTo>
                  <a:lnTo>
                    <a:pt x="25281" y="933803"/>
                  </a:lnTo>
                  <a:cubicBezTo>
                    <a:pt x="11319" y="933803"/>
                    <a:pt x="0" y="922484"/>
                    <a:pt x="0" y="908522"/>
                  </a:cubicBezTo>
                  <a:lnTo>
                    <a:pt x="0" y="25281"/>
                  </a:lnTo>
                  <a:cubicBezTo>
                    <a:pt x="0" y="11319"/>
                    <a:pt x="11319" y="0"/>
                    <a:pt x="25281" y="0"/>
                  </a:cubicBezTo>
                  <a:close/>
                </a:path>
              </a:pathLst>
            </a:custGeom>
            <a:blipFill>
              <a:blip r:embed="rId2"/>
              <a:stretch>
                <a:fillRect l="0" t="-39841" r="0" b="-39841"/>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DAHZF6afkHw</dc:identifier>
  <dcterms:modified xsi:type="dcterms:W3CDTF">2011-08-01T06:04:30Z</dcterms:modified>
  <cp:revision>1</cp:revision>
  <dc:title>Data Analysis and Statistics - 4th grade by Slidesgo.pptx</dc:title>
</cp:coreProperties>
</file>